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4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59" r:id="rId15"/>
    <p:sldId id="261" r:id="rId16"/>
    <p:sldId id="270" r:id="rId17"/>
    <p:sldId id="269" r:id="rId18"/>
    <p:sldId id="271" r:id="rId19"/>
    <p:sldId id="266" r:id="rId20"/>
  </p:sldIdLst>
  <p:sldSz cx="9144000" cy="6858000" type="screen4x3"/>
  <p:notesSz cx="6858000" cy="9144000"/>
  <p:embeddedFontLs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7C7A"/>
    <a:srgbClr val="986868"/>
    <a:srgbClr val="984E4E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BB7AE-EEBB-4C74-9035-98F8259652EF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86CE3-A4BA-4DF1-A880-2FDEAAE7F3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41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45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28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22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23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33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84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48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17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10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86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abyul.com/zbxe/files/attach/images/1632/678/095/1305476114_10.jpg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6104" y="-67571"/>
            <a:ext cx="11124728" cy="695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764E5-C7BD-4E14-BA5C-999A47A85DD2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E8407-1809-43C2-A003-9008327CA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19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ko-KR" sz="11500" dirty="0">
                <a:solidFill>
                  <a:srgbClr val="984E4E"/>
                </a:solidFill>
              </a:rPr>
              <a:t>IU </a:t>
            </a:r>
            <a:r>
              <a:rPr lang="ko-KR" altLang="en-US" sz="11500" dirty="0">
                <a:solidFill>
                  <a:srgbClr val="984E4E"/>
                </a:solidFill>
              </a:rPr>
              <a:t>너랑 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59632" y="3645024"/>
            <a:ext cx="6624736" cy="1847056"/>
          </a:xfrm>
        </p:spPr>
        <p:txBody>
          <a:bodyPr>
            <a:normAutofit/>
          </a:bodyPr>
          <a:lstStyle/>
          <a:p>
            <a:r>
              <a:rPr lang="ko-KR" alt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컴퓨터그래픽스 </a:t>
            </a:r>
            <a:r>
              <a:rPr lang="en-US" altLang="ko-KR" sz="3600" dirty="0">
                <a:solidFill>
                  <a:srgbClr val="984E4E"/>
                </a:solidFill>
              </a:rPr>
              <a:t>OpenGL</a:t>
            </a:r>
            <a:r>
              <a:rPr lang="en-US" altLang="ko-KR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프로젝트</a:t>
            </a:r>
            <a:endParaRPr lang="en-US" altLang="ko-K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913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3608" y="980728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ko-KR" altLang="en-US" sz="6000" dirty="0">
                <a:solidFill>
                  <a:srgbClr val="984E4E"/>
                </a:solidFill>
              </a:rPr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12160" y="1600200"/>
            <a:ext cx="2674640" cy="4525963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endParaRPr lang="en-US" altLang="ko-KR" sz="4800" dirty="0"/>
          </a:p>
          <a:p>
            <a:pPr>
              <a:buFontTx/>
              <a:buChar char="-"/>
            </a:pPr>
            <a:r>
              <a:rPr lang="ko-KR" altLang="en-US" sz="4800" dirty="0"/>
              <a:t> </a:t>
            </a:r>
            <a:r>
              <a:rPr lang="ko-KR" altLang="en-US" sz="4800" dirty="0">
                <a:solidFill>
                  <a:srgbClr val="984E4E"/>
                </a:solidFill>
              </a:rPr>
              <a:t>개발 목표</a:t>
            </a:r>
            <a:endParaRPr lang="en-US" altLang="ko-KR" sz="4800" dirty="0">
              <a:solidFill>
                <a:srgbClr val="984E4E"/>
              </a:solidFill>
            </a:endParaRPr>
          </a:p>
          <a:p>
            <a:pPr>
              <a:buFontTx/>
              <a:buChar char="-"/>
            </a:pPr>
            <a:r>
              <a:rPr lang="ko-KR" altLang="en-US" sz="4800" dirty="0"/>
              <a:t> 개발 환경</a:t>
            </a:r>
            <a:endParaRPr lang="en-US" altLang="ko-KR" sz="4800" dirty="0"/>
          </a:p>
          <a:p>
            <a:pPr>
              <a:buFontTx/>
              <a:buChar char="-"/>
            </a:pPr>
            <a:r>
              <a:rPr lang="en-US" altLang="ko-KR" sz="4800" dirty="0"/>
              <a:t> </a:t>
            </a:r>
            <a:r>
              <a:rPr lang="ko-KR" altLang="en-US" sz="4800" dirty="0">
                <a:solidFill>
                  <a:srgbClr val="986868"/>
                </a:solidFill>
              </a:rPr>
              <a:t>모델링 구조</a:t>
            </a:r>
            <a:endParaRPr lang="en-US" altLang="ko-KR" sz="4800" dirty="0">
              <a:solidFill>
                <a:srgbClr val="986868"/>
              </a:solidFill>
            </a:endParaRPr>
          </a:p>
          <a:p>
            <a:pPr>
              <a:buFontTx/>
              <a:buChar char="-"/>
            </a:pPr>
            <a:r>
              <a:rPr lang="ko-KR" altLang="en-US" sz="4800" dirty="0"/>
              <a:t> 구현 기능</a:t>
            </a:r>
            <a:endParaRPr lang="en-US" altLang="ko-KR" sz="4800" dirty="0"/>
          </a:p>
          <a:p>
            <a:pPr>
              <a:buFontTx/>
              <a:buChar char="-"/>
            </a:pPr>
            <a:r>
              <a:rPr lang="ko-KR" altLang="en-US" sz="4800" dirty="0"/>
              <a:t> </a:t>
            </a:r>
            <a:r>
              <a:rPr lang="ko-KR" altLang="en-US" sz="4800" dirty="0">
                <a:solidFill>
                  <a:srgbClr val="D07C7A"/>
                </a:solidFill>
              </a:rPr>
              <a:t>실행 화면</a:t>
            </a:r>
            <a:endParaRPr lang="en-US" altLang="ko-KR" sz="4800" dirty="0">
              <a:solidFill>
                <a:srgbClr val="D07C7A"/>
              </a:solidFill>
            </a:endParaRPr>
          </a:p>
          <a:p>
            <a:pPr>
              <a:buFontTx/>
              <a:buChar char="-"/>
            </a:pPr>
            <a:r>
              <a:rPr lang="ko-KR" altLang="en-US" sz="4800" dirty="0"/>
              <a:t> 데모 영상</a:t>
            </a:r>
            <a:endParaRPr lang="en-US" altLang="ko-KR" sz="4800" dirty="0"/>
          </a:p>
          <a:p>
            <a:pPr marL="0" indent="0">
              <a:buNone/>
            </a:pPr>
            <a:endParaRPr lang="en-US" altLang="ko-KR" sz="4800" dirty="0"/>
          </a:p>
          <a:p>
            <a:pPr algn="ctr">
              <a:buFontTx/>
              <a:buChar char="-"/>
            </a:pPr>
            <a:endParaRPr lang="en-US" altLang="ko-KR" sz="4800" dirty="0"/>
          </a:p>
          <a:p>
            <a:endParaRPr lang="en-US" altLang="ko-KR" sz="4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924944"/>
            <a:ext cx="5577839" cy="267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5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>
                <a:solidFill>
                  <a:srgbClr val="984E4E"/>
                </a:solidFill>
              </a:rPr>
              <a:t>개발목표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3600" dirty="0"/>
          </a:p>
          <a:p>
            <a:pPr marL="0" indent="0">
              <a:buNone/>
            </a:pPr>
            <a:r>
              <a:rPr lang="ko-KR" altLang="en-US" sz="3600" dirty="0"/>
              <a:t>국내최고 인기가수 </a:t>
            </a:r>
            <a:r>
              <a:rPr lang="en-US" altLang="ko-KR" sz="3600" dirty="0">
                <a:solidFill>
                  <a:srgbClr val="D07C7A"/>
                </a:solidFill>
              </a:rPr>
              <a:t>IU</a:t>
            </a:r>
            <a:r>
              <a:rPr lang="ko-KR" altLang="en-US" sz="3600" dirty="0"/>
              <a:t>의 정규 </a:t>
            </a:r>
            <a:r>
              <a:rPr lang="en-US" altLang="ko-KR" sz="3600" dirty="0"/>
              <a:t>2</a:t>
            </a:r>
            <a:r>
              <a:rPr lang="ko-KR" altLang="en-US" sz="3600" dirty="0"/>
              <a:t>집 앨범</a:t>
            </a:r>
            <a:r>
              <a:rPr lang="en-US" altLang="ko-KR" sz="3600" dirty="0"/>
              <a:t> </a:t>
            </a:r>
            <a:r>
              <a:rPr lang="en-US" altLang="ko-KR" sz="3600" dirty="0">
                <a:solidFill>
                  <a:srgbClr val="996633"/>
                </a:solidFill>
              </a:rPr>
              <a:t>Last Fantasy</a:t>
            </a:r>
            <a:r>
              <a:rPr lang="ko-KR" altLang="en-US" sz="3600" dirty="0"/>
              <a:t>의 타이틀곡 </a:t>
            </a:r>
            <a:r>
              <a:rPr lang="en-US" altLang="ko-KR" sz="3600" dirty="0"/>
              <a:t>‘</a:t>
            </a:r>
            <a:r>
              <a:rPr lang="ko-KR" altLang="en-US" sz="3600" dirty="0">
                <a:solidFill>
                  <a:srgbClr val="D07C7A"/>
                </a:solidFill>
              </a:rPr>
              <a:t>너랑</a:t>
            </a:r>
            <a:r>
              <a:rPr lang="en-US" altLang="ko-KR" sz="3600" dirty="0">
                <a:solidFill>
                  <a:srgbClr val="D07C7A"/>
                </a:solidFill>
              </a:rPr>
              <a:t> </a:t>
            </a:r>
            <a:r>
              <a:rPr lang="ko-KR" altLang="en-US" sz="3600" dirty="0">
                <a:solidFill>
                  <a:srgbClr val="D07C7A"/>
                </a:solidFill>
              </a:rPr>
              <a:t>나</a:t>
            </a:r>
            <a:r>
              <a:rPr lang="en-US" altLang="ko-KR" sz="3600" dirty="0"/>
              <a:t>’</a:t>
            </a:r>
            <a:r>
              <a:rPr lang="ko-KR" altLang="en-US" sz="3600" dirty="0"/>
              <a:t>에서의</a:t>
            </a:r>
            <a:r>
              <a:rPr lang="en-US" altLang="ko-KR" sz="3600" dirty="0"/>
              <a:t> </a:t>
            </a:r>
            <a:r>
              <a:rPr lang="ko-KR" altLang="en-US" sz="3600" dirty="0"/>
              <a:t>뮤비의 모습을</a:t>
            </a:r>
            <a:r>
              <a:rPr lang="en-US" altLang="ko-KR" sz="3600" dirty="0"/>
              <a:t> </a:t>
            </a:r>
            <a:r>
              <a:rPr lang="ko-KR" altLang="en-US" sz="3600" dirty="0"/>
              <a:t>귀여운 </a:t>
            </a:r>
            <a:r>
              <a:rPr lang="en-US" altLang="ko-KR" sz="3600" dirty="0">
                <a:solidFill>
                  <a:srgbClr val="D07C7A"/>
                </a:solidFill>
              </a:rPr>
              <a:t>2</a:t>
            </a:r>
            <a:r>
              <a:rPr lang="ko-KR" altLang="en-US" sz="3600" dirty="0">
                <a:solidFill>
                  <a:srgbClr val="D07C7A"/>
                </a:solidFill>
              </a:rPr>
              <a:t>등신의 </a:t>
            </a:r>
            <a:r>
              <a:rPr lang="en-US" altLang="ko-KR" sz="3600" dirty="0">
                <a:solidFill>
                  <a:srgbClr val="D07C7A"/>
                </a:solidFill>
              </a:rPr>
              <a:t>SD </a:t>
            </a:r>
            <a:r>
              <a:rPr lang="ko-KR" altLang="en-US" sz="3600" dirty="0"/>
              <a:t>캐릭터로 구현한다</a:t>
            </a:r>
            <a:r>
              <a:rPr lang="en-US" altLang="ko-KR" sz="3600" dirty="0"/>
              <a:t>.</a:t>
            </a:r>
          </a:p>
          <a:p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214416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540568" y="274638"/>
            <a:ext cx="8229600" cy="1143000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rgbClr val="984E4E"/>
                </a:solidFill>
                <a:ea typeface="배달의민족 도현" panose="020B0600000101010101" pitchFamily="50" charset="-127"/>
              </a:rPr>
              <a:t>Modeling - </a:t>
            </a:r>
            <a:r>
              <a:rPr lang="ko-KR" altLang="en-US" dirty="0">
                <a:solidFill>
                  <a:srgbClr val="984E4E"/>
                </a:solidFill>
                <a:ea typeface="배달의민족 도현" panose="020B0600000101010101" pitchFamily="50" charset="-127"/>
              </a:rPr>
              <a:t>전체구조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57991" y="2349167"/>
            <a:ext cx="228600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  <a:ea typeface="나눔바른고딕" panose="020B0603020101020101" pitchFamily="50" charset="-127"/>
              </a:rPr>
              <a:t>glutDisplayFunc</a:t>
            </a:r>
            <a:r>
              <a:rPr lang="en-US" altLang="ko-KR" dirty="0">
                <a:latin typeface="+mj-lt"/>
                <a:ea typeface="나눔바른고딕" panose="020B0603020101020101" pitchFamily="50" charset="-127"/>
              </a:rPr>
              <a:t>()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57991" y="3642561"/>
            <a:ext cx="228600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lt"/>
                <a:ea typeface="나눔바른고딕" panose="020B0603020101020101" pitchFamily="50" charset="-127"/>
              </a:rPr>
              <a:t>display()</a:t>
            </a:r>
          </a:p>
        </p:txBody>
      </p:sp>
      <p:cxnSp>
        <p:nvCxnSpPr>
          <p:cNvPr id="9" name="직선 화살표 연결선 8"/>
          <p:cNvCxnSpPr>
            <a:stCxn id="6" idx="2"/>
            <a:endCxn id="7" idx="0"/>
          </p:cNvCxnSpPr>
          <p:nvPr/>
        </p:nvCxnSpPr>
        <p:spPr>
          <a:xfrm>
            <a:off x="1900991" y="3083092"/>
            <a:ext cx="0" cy="559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5865395" y="1615241"/>
            <a:ext cx="228600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  <a:ea typeface="나눔바른고딕" panose="020B0603020101020101" pitchFamily="50" charset="-127"/>
              </a:rPr>
              <a:t>createSphere</a:t>
            </a:r>
            <a:r>
              <a:rPr lang="en-US" altLang="ko-KR" dirty="0">
                <a:latin typeface="+mj-lt"/>
                <a:ea typeface="나눔바른고딕" panose="020B0603020101020101" pitchFamily="50" charset="-127"/>
              </a:rPr>
              <a:t>()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865395" y="3530894"/>
            <a:ext cx="228600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latin typeface="+mj-lt"/>
                <a:ea typeface="나눔바른고딕" panose="020B0603020101020101" pitchFamily="50" charset="-127"/>
              </a:rPr>
              <a:t>createCylinder_tex</a:t>
            </a:r>
            <a:r>
              <a:rPr lang="en-US" altLang="ko-KR" sz="1600" dirty="0">
                <a:latin typeface="+mj-lt"/>
                <a:ea typeface="나눔바른고딕" panose="020B0603020101020101" pitchFamily="50" charset="-127"/>
              </a:rPr>
              <a:t>()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865395" y="2573067"/>
            <a:ext cx="228600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  <a:ea typeface="나눔바른고딕" panose="020B0603020101020101" pitchFamily="50" charset="-127"/>
              </a:rPr>
              <a:t>createCylinder</a:t>
            </a:r>
            <a:r>
              <a:rPr lang="en-US" altLang="ko-KR" dirty="0">
                <a:latin typeface="+mj-lt"/>
                <a:ea typeface="나눔바른고딕" panose="020B0603020101020101" pitchFamily="50" charset="-127"/>
              </a:rPr>
              <a:t>()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865395" y="4488720"/>
            <a:ext cx="228600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j-lt"/>
                <a:ea typeface="나눔바른고딕" panose="020B0603020101020101" pitchFamily="50" charset="-127"/>
              </a:rPr>
              <a:t>createCircle</a:t>
            </a:r>
            <a:r>
              <a:rPr lang="en-US" altLang="ko-KR" dirty="0">
                <a:latin typeface="+mj-lt"/>
                <a:ea typeface="나눔바른고딕" panose="020B0603020101020101" pitchFamily="50" charset="-127"/>
              </a:rPr>
              <a:t>()</a:t>
            </a:r>
          </a:p>
        </p:txBody>
      </p:sp>
      <p:sp>
        <p:nvSpPr>
          <p:cNvPr id="15" name="왼쪽 대괄호 14"/>
          <p:cNvSpPr/>
          <p:nvPr/>
        </p:nvSpPr>
        <p:spPr>
          <a:xfrm>
            <a:off x="5702969" y="1867903"/>
            <a:ext cx="162427" cy="3200400"/>
          </a:xfrm>
          <a:prstGeom prst="lef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+mj-lt"/>
              <a:ea typeface="나눔바른고딕" panose="020B0603020101020101" pitchFamily="50" charset="-127"/>
            </a:endParaRPr>
          </a:p>
        </p:txBody>
      </p:sp>
      <p:cxnSp>
        <p:nvCxnSpPr>
          <p:cNvPr id="17" name="직선 화살표 연결선 16"/>
          <p:cNvCxnSpPr>
            <a:stCxn id="7" idx="3"/>
          </p:cNvCxnSpPr>
          <p:nvPr/>
        </p:nvCxnSpPr>
        <p:spPr>
          <a:xfrm flipV="1">
            <a:off x="3043991" y="3985461"/>
            <a:ext cx="2658978" cy="24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84622" y="3214043"/>
            <a:ext cx="2177716" cy="7155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350" dirty="0">
                <a:latin typeface="+mn-ea"/>
              </a:rPr>
              <a:t>display </a:t>
            </a:r>
            <a:r>
              <a:rPr lang="ko-KR" altLang="en-US" sz="1350" dirty="0">
                <a:latin typeface="+mn-ea"/>
              </a:rPr>
              <a:t>함수에서</a:t>
            </a:r>
            <a:endParaRPr lang="en-US" altLang="ko-KR" sz="1350" dirty="0">
              <a:latin typeface="+mn-ea"/>
            </a:endParaRPr>
          </a:p>
          <a:p>
            <a:pPr algn="ctr"/>
            <a:r>
              <a:rPr lang="ko-KR" altLang="en-US" sz="1350" dirty="0">
                <a:latin typeface="+mn-ea"/>
              </a:rPr>
              <a:t>필요한 모델링 함수를</a:t>
            </a:r>
            <a:endParaRPr lang="en-US" altLang="ko-KR" sz="1350" dirty="0">
              <a:latin typeface="+mn-ea"/>
            </a:endParaRPr>
          </a:p>
          <a:p>
            <a:pPr algn="ctr"/>
            <a:r>
              <a:rPr lang="ko-KR" altLang="en-US" sz="1350" dirty="0">
                <a:latin typeface="+mn-ea"/>
              </a:rPr>
              <a:t>불러온다</a:t>
            </a:r>
            <a:r>
              <a:rPr lang="en-US" altLang="ko-KR" sz="1350" dirty="0">
                <a:latin typeface="+mn-ea"/>
              </a:rPr>
              <a:t>.</a:t>
            </a:r>
            <a:endParaRPr lang="ko-KR" altLang="en-US" sz="13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753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140978" y="274638"/>
            <a:ext cx="8229600" cy="1143000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rgbClr val="984E4E"/>
                </a:solidFill>
                <a:latin typeface="+mn-ea"/>
                <a:ea typeface="+mn-ea"/>
              </a:rPr>
              <a:t>Modeling – </a:t>
            </a:r>
            <a:r>
              <a:rPr lang="ko-KR" altLang="en-US" dirty="0">
                <a:solidFill>
                  <a:srgbClr val="984E4E"/>
                </a:solidFill>
                <a:latin typeface="+mn-ea"/>
                <a:ea typeface="+mn-ea"/>
              </a:rPr>
              <a:t>구</a:t>
            </a:r>
            <a:r>
              <a:rPr lang="en-US" altLang="ko-KR" dirty="0">
                <a:solidFill>
                  <a:srgbClr val="984E4E"/>
                </a:solidFill>
                <a:latin typeface="+mn-ea"/>
                <a:ea typeface="+mn-ea"/>
              </a:rPr>
              <a:t>, </a:t>
            </a:r>
            <a:r>
              <a:rPr lang="ko-KR" altLang="en-US" dirty="0">
                <a:solidFill>
                  <a:srgbClr val="984E4E"/>
                </a:solidFill>
                <a:latin typeface="+mn-ea"/>
                <a:ea typeface="+mn-ea"/>
              </a:rPr>
              <a:t>타원체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57990" y="2349167"/>
            <a:ext cx="289961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ea typeface="나눔바른고딕" panose="020B0603020101020101" pitchFamily="50" charset="-127"/>
              </a:rPr>
              <a:t>createSphere</a:t>
            </a:r>
            <a:r>
              <a:rPr lang="en-US" altLang="ko-KR" dirty="0">
                <a:ea typeface="나눔바른고딕" panose="020B0603020101020101" pitchFamily="50" charset="-127"/>
              </a:rPr>
              <a:t>()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094873" y="3306993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ea typeface="나눔바른고딕" panose="020B0603020101020101" pitchFamily="50" charset="-127"/>
              </a:rPr>
              <a:t>gluSphere</a:t>
            </a:r>
            <a:r>
              <a:rPr lang="en-US" altLang="ko-KR" dirty="0">
                <a:solidFill>
                  <a:schemeClr val="bg1"/>
                </a:solidFill>
                <a:ea typeface="나눔바른고딕" panose="020B0603020101020101" pitchFamily="50" charset="-127"/>
              </a:rPr>
              <a:t>()</a:t>
            </a:r>
            <a:endParaRPr lang="ko-KR" altLang="en-US" dirty="0">
              <a:solidFill>
                <a:schemeClr val="bg1"/>
              </a:solidFill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>
            <a:stCxn id="14" idx="2"/>
            <a:endCxn id="5" idx="0"/>
          </p:cNvCxnSpPr>
          <p:nvPr/>
        </p:nvCxnSpPr>
        <p:spPr>
          <a:xfrm flipH="1">
            <a:off x="2207795" y="3083092"/>
            <a:ext cx="1" cy="2239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68808" y="3500831"/>
            <a:ext cx="443102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err="1">
                <a:latin typeface="+mn-ea"/>
              </a:rPr>
              <a:t>gluSphere</a:t>
            </a:r>
            <a:r>
              <a:rPr lang="en-US" altLang="ko-KR" dirty="0">
                <a:latin typeface="+mn-ea"/>
              </a:rPr>
              <a:t>() </a:t>
            </a:r>
            <a:r>
              <a:rPr lang="ko-KR" altLang="en-US" dirty="0">
                <a:latin typeface="+mn-ea"/>
              </a:rPr>
              <a:t>함수를 이용해 </a:t>
            </a:r>
            <a:r>
              <a:rPr lang="ko-KR" altLang="en-US" b="1" dirty="0">
                <a:solidFill>
                  <a:srgbClr val="984E4E"/>
                </a:solidFill>
                <a:latin typeface="+mn-ea"/>
              </a:rPr>
              <a:t>구</a:t>
            </a:r>
            <a:r>
              <a:rPr lang="ko-KR" altLang="en-US" dirty="0">
                <a:latin typeface="+mn-ea"/>
              </a:rPr>
              <a:t>를 만든다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1094873" y="4264820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ea typeface="나눔바른고딕" panose="020B0603020101020101" pitchFamily="50" charset="-127"/>
              </a:rPr>
              <a:t>glScalef</a:t>
            </a:r>
            <a:r>
              <a:rPr lang="en-US" altLang="ko-KR" dirty="0">
                <a:solidFill>
                  <a:schemeClr val="bg1"/>
                </a:solidFill>
                <a:ea typeface="나눔바른고딕" panose="020B0603020101020101" pitchFamily="50" charset="-127"/>
              </a:rPr>
              <a:t>()</a:t>
            </a:r>
            <a:endParaRPr lang="ko-KR" altLang="en-US" dirty="0">
              <a:solidFill>
                <a:schemeClr val="bg1"/>
              </a:solidFill>
              <a:ea typeface="나눔바른고딕" panose="020B0603020101020101" pitchFamily="50" charset="-127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 flipH="1">
            <a:off x="2207795" y="4040919"/>
            <a:ext cx="1" cy="2239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68808" y="4320159"/>
            <a:ext cx="4636206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984E4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타원</a:t>
            </a:r>
            <a:r>
              <a:rPr lang="ko-KR" altLang="en-US" dirty="0">
                <a:solidFill>
                  <a:srgbClr val="984E4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체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가 필요하면 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display()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에서</a:t>
            </a:r>
            <a:endParaRPr lang="en-US" altLang="ko-KR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en-US" altLang="ko-KR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glScalef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()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를 이용해 구의 모양을 조절한다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</p:txBody>
      </p:sp>
      <p:sp>
        <p:nvSpPr>
          <p:cNvPr id="28" name="오각형 27"/>
          <p:cNvSpPr/>
          <p:nvPr/>
        </p:nvSpPr>
        <p:spPr>
          <a:xfrm>
            <a:off x="3970421" y="2349167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머리</a:t>
            </a:r>
            <a:r>
              <a:rPr lang="en-US" altLang="ko-KR" sz="1350" dirty="0"/>
              <a:t>, </a:t>
            </a:r>
            <a:r>
              <a:rPr lang="ko-KR" altLang="en-US" sz="1350" dirty="0"/>
              <a:t>신발</a:t>
            </a:r>
            <a:r>
              <a:rPr lang="en-US" altLang="ko-KR" sz="1350" dirty="0"/>
              <a:t>, </a:t>
            </a:r>
            <a:r>
              <a:rPr lang="ko-KR" altLang="en-US" sz="1350" dirty="0"/>
              <a:t>손</a:t>
            </a:r>
            <a:r>
              <a:rPr lang="en-US" altLang="ko-KR" sz="1350" dirty="0"/>
              <a:t>, </a:t>
            </a:r>
            <a:r>
              <a:rPr lang="ko-KR" altLang="en-US" sz="1350" dirty="0"/>
              <a:t>어깨</a:t>
            </a:r>
            <a:r>
              <a:rPr lang="en-US" altLang="ko-KR" sz="1350" dirty="0"/>
              <a:t>, </a:t>
            </a:r>
            <a:r>
              <a:rPr lang="ko-KR" altLang="en-US" sz="1350" dirty="0"/>
              <a:t>머리카락</a:t>
            </a:r>
            <a:r>
              <a:rPr lang="en-US" altLang="ko-KR" sz="1350" dirty="0"/>
              <a:t>(</a:t>
            </a:r>
            <a:r>
              <a:rPr lang="ko-KR" altLang="en-US" sz="1350" dirty="0"/>
              <a:t>타원</a:t>
            </a:r>
            <a:r>
              <a:rPr lang="en-US" altLang="ko-KR" sz="1350" dirty="0"/>
              <a:t>)</a:t>
            </a:r>
            <a:endParaRPr lang="ko-KR" altLang="en-US" sz="1350" dirty="0"/>
          </a:p>
        </p:txBody>
      </p:sp>
    </p:spTree>
    <p:extLst>
      <p:ext uri="{BB962C8B-B14F-4D97-AF65-F5344CB8AC3E}">
        <p14:creationId xmlns:p14="http://schemas.microsoft.com/office/powerpoint/2010/main" val="427542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144379" y="274638"/>
            <a:ext cx="8229600" cy="1143000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rgbClr val="984E4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Modeling - </a:t>
            </a:r>
            <a:r>
              <a:rPr lang="ko-KR" altLang="en-US" dirty="0">
                <a:solidFill>
                  <a:srgbClr val="984E4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원기둥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57990" y="2349167"/>
            <a:ext cx="289961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createCylinder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1920" y="3414457"/>
            <a:ext cx="5331315" cy="12003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latin typeface="+mn-ea"/>
              </a:rPr>
              <a:t>gluCylinder</a:t>
            </a:r>
            <a:r>
              <a:rPr lang="en-US" altLang="ko-KR" dirty="0">
                <a:latin typeface="+mn-ea"/>
              </a:rPr>
              <a:t>() </a:t>
            </a:r>
            <a:r>
              <a:rPr lang="ko-KR" altLang="en-US" dirty="0">
                <a:latin typeface="+mn-ea"/>
              </a:rPr>
              <a:t>함수를 이용해 </a:t>
            </a:r>
            <a:r>
              <a:rPr lang="ko-KR" altLang="en-US" b="1" dirty="0">
                <a:solidFill>
                  <a:srgbClr val="984E4E"/>
                </a:solidFill>
                <a:latin typeface="+mn-ea"/>
              </a:rPr>
              <a:t>원기둥 옆면</a:t>
            </a:r>
            <a:r>
              <a:rPr lang="ko-KR" altLang="en-US" dirty="0">
                <a:latin typeface="+mn-ea"/>
              </a:rPr>
              <a:t>을 만든다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ctr"/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위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아래 면적을 달리 줘서</a:t>
            </a:r>
            <a:r>
              <a:rPr lang="en-US" altLang="ko-KR" dirty="0">
                <a:latin typeface="+mn-ea"/>
              </a:rPr>
              <a:t>	      </a:t>
            </a:r>
            <a:r>
              <a:rPr lang="ko-KR" altLang="en-US" dirty="0">
                <a:latin typeface="+mn-ea"/>
              </a:rPr>
              <a:t>과 같은 사다리꼴의 회천체 모양도 만들 수 있다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1507" y="4764016"/>
            <a:ext cx="3265639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createCircle</a:t>
            </a:r>
            <a:r>
              <a:rPr lang="en-US" altLang="ko-KR" dirty="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() </a:t>
            </a:r>
            <a:r>
              <a:rPr lang="ko-KR" altLang="en-US" dirty="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함수를 이용해</a:t>
            </a:r>
            <a:endParaRPr lang="en-US" altLang="ko-KR" dirty="0">
              <a:solidFill>
                <a:schemeClr val="tx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ko-KR" altLang="en-US" dirty="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원기둥 밑면</a:t>
            </a:r>
            <a:r>
              <a:rPr lang="en-US" altLang="ko-KR" dirty="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윗면을 만든다</a:t>
            </a:r>
            <a:r>
              <a:rPr lang="en-US" altLang="ko-KR" dirty="0">
                <a:solidFill>
                  <a:schemeClr val="tx1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</p:txBody>
      </p:sp>
      <p:sp>
        <p:nvSpPr>
          <p:cNvPr id="28" name="오각형 27"/>
          <p:cNvSpPr/>
          <p:nvPr/>
        </p:nvSpPr>
        <p:spPr>
          <a:xfrm>
            <a:off x="3970421" y="2349167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+mn-ea"/>
              </a:rPr>
              <a:t>손가락</a:t>
            </a:r>
            <a:r>
              <a:rPr lang="en-US" altLang="ko-KR" sz="1350" dirty="0">
                <a:latin typeface="+mn-ea"/>
              </a:rPr>
              <a:t>, </a:t>
            </a:r>
            <a:r>
              <a:rPr lang="ko-KR" altLang="en-US" sz="1350" dirty="0">
                <a:latin typeface="+mn-ea"/>
              </a:rPr>
              <a:t>다리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100889" y="3474282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gluCylinder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0" name="직선 연결선 19"/>
          <p:cNvCxnSpPr>
            <a:endCxn id="19" idx="0"/>
          </p:cNvCxnSpPr>
          <p:nvPr/>
        </p:nvCxnSpPr>
        <p:spPr>
          <a:xfrm>
            <a:off x="2207797" y="3083092"/>
            <a:ext cx="6014" cy="3911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094873" y="4734054"/>
            <a:ext cx="2225843" cy="70625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createCircle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cxnSp>
        <p:nvCxnSpPr>
          <p:cNvPr id="27" name="직선 연결선 26"/>
          <p:cNvCxnSpPr>
            <a:stCxn id="19" idx="2"/>
            <a:endCxn id="22" idx="0"/>
          </p:cNvCxnSpPr>
          <p:nvPr/>
        </p:nvCxnSpPr>
        <p:spPr>
          <a:xfrm flipH="1">
            <a:off x="2207795" y="4208208"/>
            <a:ext cx="6016" cy="5258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사다리꼴 8"/>
          <p:cNvSpPr/>
          <p:nvPr/>
        </p:nvSpPr>
        <p:spPr>
          <a:xfrm>
            <a:off x="6588224" y="3862132"/>
            <a:ext cx="456082" cy="398969"/>
          </a:xfrm>
          <a:prstGeom prst="trapezoi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9217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177895" y="274638"/>
            <a:ext cx="5109935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>
                <a:solidFill>
                  <a:srgbClr val="984E4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Modeling - </a:t>
            </a:r>
            <a:r>
              <a:rPr lang="ko-KR" altLang="en-US" dirty="0">
                <a:solidFill>
                  <a:srgbClr val="984E4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원기둥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57990" y="2349167"/>
            <a:ext cx="289961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createCylinder_tex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()</a:t>
            </a:r>
          </a:p>
        </p:txBody>
      </p:sp>
      <p:sp>
        <p:nvSpPr>
          <p:cNvPr id="28" name="오각형 27"/>
          <p:cNvSpPr/>
          <p:nvPr/>
        </p:nvSpPr>
        <p:spPr>
          <a:xfrm>
            <a:off x="3970421" y="2349167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몸통</a:t>
            </a:r>
            <a:r>
              <a:rPr lang="en-US" altLang="ko-KR" sz="135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, </a:t>
            </a:r>
            <a:r>
              <a:rPr lang="ko-KR" altLang="en-US" sz="135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팔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497933" y="3732797"/>
            <a:ext cx="2159668" cy="70431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createCylinder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()</a:t>
            </a:r>
          </a:p>
        </p:txBody>
      </p:sp>
      <p:sp>
        <p:nvSpPr>
          <p:cNvPr id="3" name="굽은 화살표 2"/>
          <p:cNvSpPr/>
          <p:nvPr/>
        </p:nvSpPr>
        <p:spPr>
          <a:xfrm flipV="1">
            <a:off x="914401" y="3335755"/>
            <a:ext cx="409073" cy="794084"/>
          </a:xfrm>
          <a:prstGeom prst="bentArrow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68808" y="3662021"/>
            <a:ext cx="3817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두 함수의 모델링 기능은 </a:t>
            </a:r>
            <a:r>
              <a: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동일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하다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  <a:p>
            <a:r>
              <a:rPr lang="en-US" altLang="ko-KR" dirty="0" err="1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createCircle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()</a:t>
            </a:r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에 텍스쳐를</a:t>
            </a:r>
            <a:endParaRPr lang="en-US" altLang="ko-KR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r>
              <a: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따로주기 위해 만들어졌다</a:t>
            </a:r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179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144379" y="274638"/>
            <a:ext cx="8229600" cy="1143000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rgbClr val="984E4E"/>
                </a:solidFill>
                <a:latin typeface="+mn-ea"/>
                <a:ea typeface="+mn-ea"/>
              </a:rPr>
              <a:t>Modeling - </a:t>
            </a:r>
            <a:r>
              <a:rPr lang="ko-KR" altLang="en-US" dirty="0">
                <a:solidFill>
                  <a:srgbClr val="984E4E"/>
                </a:solidFill>
                <a:latin typeface="+mn-ea"/>
                <a:ea typeface="+mn-ea"/>
              </a:rPr>
              <a:t>원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57990" y="2349167"/>
            <a:ext cx="289961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createCircle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0716" y="3729295"/>
            <a:ext cx="5654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ea"/>
              </a:rPr>
              <a:t>GL_TRIANGLE_FAN</a:t>
            </a:r>
            <a:r>
              <a:rPr lang="ko-KR" altLang="en-US" dirty="0">
                <a:latin typeface="+mn-ea"/>
              </a:rPr>
              <a:t>으로 계산을 통해 </a:t>
            </a:r>
            <a:r>
              <a:rPr lang="ko-KR" altLang="en-US" b="1" dirty="0">
                <a:solidFill>
                  <a:srgbClr val="984E4E"/>
                </a:solidFill>
                <a:latin typeface="+mn-ea"/>
              </a:rPr>
              <a:t>원</a:t>
            </a:r>
            <a:r>
              <a:rPr lang="ko-KR" altLang="en-US" dirty="0">
                <a:latin typeface="+mn-ea"/>
              </a:rPr>
              <a:t>을 만든다</a:t>
            </a:r>
            <a:r>
              <a:rPr lang="en-US" altLang="ko-KR" dirty="0">
                <a:latin typeface="+mn-ea"/>
              </a:rPr>
              <a:t>.</a:t>
            </a:r>
          </a:p>
          <a:p>
            <a:pPr algn="ctr"/>
            <a:r>
              <a:rPr lang="ko-KR" altLang="en-US" dirty="0">
                <a:latin typeface="+mn-ea"/>
              </a:rPr>
              <a:t>결과물은 원기둥의 밑면과 윗면이 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28" name="오각형 27"/>
          <p:cNvSpPr/>
          <p:nvPr/>
        </p:nvSpPr>
        <p:spPr>
          <a:xfrm>
            <a:off x="3970421" y="2349167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+mn-ea"/>
              </a:rPr>
              <a:t>손가락</a:t>
            </a:r>
            <a:r>
              <a:rPr lang="en-US" altLang="ko-KR" sz="1350" dirty="0">
                <a:latin typeface="+mn-ea"/>
              </a:rPr>
              <a:t>, </a:t>
            </a:r>
            <a:r>
              <a:rPr lang="ko-KR" altLang="en-US" sz="1350" dirty="0">
                <a:latin typeface="+mn-ea"/>
              </a:rPr>
              <a:t>다리</a:t>
            </a:r>
            <a:r>
              <a:rPr lang="en-US" altLang="ko-KR" sz="1350" dirty="0">
                <a:latin typeface="+mn-ea"/>
              </a:rPr>
              <a:t>, </a:t>
            </a:r>
            <a:r>
              <a:rPr lang="ko-KR" altLang="en-US" sz="1350" dirty="0">
                <a:latin typeface="+mn-ea"/>
              </a:rPr>
              <a:t>몸통</a:t>
            </a:r>
            <a:r>
              <a:rPr lang="en-US" altLang="ko-KR" sz="1350" dirty="0">
                <a:latin typeface="+mn-ea"/>
              </a:rPr>
              <a:t>, </a:t>
            </a:r>
            <a:r>
              <a:rPr lang="ko-KR" altLang="en-US" sz="1350" dirty="0">
                <a:latin typeface="+mn-ea"/>
              </a:rPr>
              <a:t>팔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094873" y="3618617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GL_TRIANGLE_FAN</a:t>
            </a:r>
            <a:endParaRPr lang="ko-KR" altLang="en-US" sz="1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연결선 14"/>
          <p:cNvCxnSpPr>
            <a:stCxn id="14" idx="2"/>
            <a:endCxn id="13" idx="0"/>
          </p:cNvCxnSpPr>
          <p:nvPr/>
        </p:nvCxnSpPr>
        <p:spPr>
          <a:xfrm flipH="1">
            <a:off x="2207795" y="3083093"/>
            <a:ext cx="1" cy="53552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23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180528" y="274638"/>
            <a:ext cx="8229600" cy="1143000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rgbClr val="984E4E"/>
                </a:solidFill>
                <a:latin typeface="+mn-ea"/>
                <a:ea typeface="+mn-ea"/>
              </a:rPr>
              <a:t>Texture Mapping - </a:t>
            </a:r>
            <a:r>
              <a:rPr lang="ko-KR" altLang="en-US" dirty="0">
                <a:solidFill>
                  <a:srgbClr val="984E4E"/>
                </a:solidFill>
                <a:latin typeface="+mn-ea"/>
                <a:ea typeface="+mn-ea"/>
              </a:rPr>
              <a:t>로딩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757991" y="3642561"/>
            <a:ext cx="228600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LoadGLTextures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1900991" y="3083092"/>
            <a:ext cx="0" cy="559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757991" y="2349167"/>
            <a:ext cx="228600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Init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757991" y="4935956"/>
            <a:ext cx="228600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LoadBMPFile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1900991" y="4376487"/>
            <a:ext cx="0" cy="559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41381" y="3697900"/>
            <a:ext cx="2273969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불러온 </a:t>
            </a:r>
            <a:r>
              <a:rPr lang="en-US" altLang="ko-KR" dirty="0">
                <a:latin typeface="+mn-ea"/>
              </a:rPr>
              <a:t>bmp </a:t>
            </a:r>
            <a:r>
              <a:rPr lang="ko-KR" altLang="en-US" dirty="0">
                <a:latin typeface="+mn-ea"/>
              </a:rPr>
              <a:t>파일로</a:t>
            </a:r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 err="1">
                <a:latin typeface="+mn-ea"/>
              </a:rPr>
              <a:t>텍스쳐를</a:t>
            </a:r>
            <a:r>
              <a:rPr lang="ko-KR" altLang="en-US" dirty="0">
                <a:latin typeface="+mn-ea"/>
              </a:rPr>
              <a:t> 생성한다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3639552" y="3642561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glGenTextures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5" name="직선 연결선 24"/>
          <p:cNvCxnSpPr>
            <a:stCxn id="12" idx="3"/>
            <a:endCxn id="24" idx="1"/>
          </p:cNvCxnSpPr>
          <p:nvPr/>
        </p:nvCxnSpPr>
        <p:spPr>
          <a:xfrm>
            <a:off x="3043990" y="4009524"/>
            <a:ext cx="59556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3639552" y="4935956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+mn-ea"/>
              </a:rPr>
              <a:t>auxDIBImageLoad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()</a:t>
            </a:r>
            <a:endParaRPr lang="ko-KR" altLang="en-US" sz="16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7" name="직선 연결선 26"/>
          <p:cNvCxnSpPr>
            <a:endCxn id="26" idx="1"/>
          </p:cNvCxnSpPr>
          <p:nvPr/>
        </p:nvCxnSpPr>
        <p:spPr>
          <a:xfrm>
            <a:off x="3043990" y="5302919"/>
            <a:ext cx="59556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41381" y="4935956"/>
            <a:ext cx="2273969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ea"/>
              </a:rPr>
              <a:t>bmp </a:t>
            </a:r>
            <a:r>
              <a:rPr lang="ko-KR" altLang="en-US" dirty="0">
                <a:latin typeface="+mn-ea"/>
              </a:rPr>
              <a:t>파일을</a:t>
            </a:r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읽어들인다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31" name="오각형 30"/>
          <p:cNvSpPr/>
          <p:nvPr/>
        </p:nvSpPr>
        <p:spPr>
          <a:xfrm>
            <a:off x="3639552" y="2349167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+mn-ea"/>
              </a:rPr>
              <a:t>사용할 모든 </a:t>
            </a:r>
            <a:r>
              <a:rPr lang="ko-KR" altLang="en-US" sz="1350" dirty="0" err="1">
                <a:latin typeface="+mn-ea"/>
              </a:rPr>
              <a:t>텍스쳐</a:t>
            </a:r>
            <a:r>
              <a:rPr lang="ko-KR" altLang="en-US" sz="1350" dirty="0">
                <a:latin typeface="+mn-ea"/>
              </a:rPr>
              <a:t> 로딩 및 초기작업</a:t>
            </a:r>
          </a:p>
        </p:txBody>
      </p:sp>
    </p:spTree>
    <p:extLst>
      <p:ext uri="{BB962C8B-B14F-4D97-AF65-F5344CB8AC3E}">
        <p14:creationId xmlns:p14="http://schemas.microsoft.com/office/powerpoint/2010/main" val="663963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52536" y="274638"/>
            <a:ext cx="8229600" cy="1143000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rgbClr val="984E4E"/>
                </a:solidFill>
                <a:latin typeface="+mn-ea"/>
                <a:ea typeface="+mn-ea"/>
              </a:rPr>
              <a:t>Texture Mapping - </a:t>
            </a:r>
            <a:r>
              <a:rPr lang="ko-KR" altLang="en-US" dirty="0">
                <a:solidFill>
                  <a:srgbClr val="984E4E"/>
                </a:solidFill>
                <a:latin typeface="+mn-ea"/>
                <a:ea typeface="+mn-ea"/>
              </a:rPr>
              <a:t>사용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1094873" y="3607783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glBindTexture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" name="직선 연결선 8"/>
          <p:cNvCxnSpPr>
            <a:stCxn id="10" idx="2"/>
            <a:endCxn id="8" idx="0"/>
          </p:cNvCxnSpPr>
          <p:nvPr/>
        </p:nvCxnSpPr>
        <p:spPr>
          <a:xfrm flipH="1">
            <a:off x="2207795" y="3083093"/>
            <a:ext cx="1" cy="5246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757990" y="2349167"/>
            <a:ext cx="289961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display()</a:t>
            </a:r>
          </a:p>
        </p:txBody>
      </p:sp>
      <p:sp>
        <p:nvSpPr>
          <p:cNvPr id="15" name="오각형 14"/>
          <p:cNvSpPr/>
          <p:nvPr/>
        </p:nvSpPr>
        <p:spPr>
          <a:xfrm>
            <a:off x="3970421" y="2349167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+mn-ea"/>
              </a:rPr>
              <a:t>모델링 및 </a:t>
            </a:r>
            <a:r>
              <a:rPr lang="ko-KR" altLang="en-US" sz="1350" dirty="0" err="1">
                <a:latin typeface="+mn-ea"/>
              </a:rPr>
              <a:t>텍스쳐</a:t>
            </a:r>
            <a:r>
              <a:rPr lang="ko-KR" altLang="en-US" sz="1350" dirty="0">
                <a:latin typeface="+mn-ea"/>
              </a:rPr>
              <a:t> 사용 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0977" y="3653605"/>
            <a:ext cx="5654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+mn-ea"/>
              </a:rPr>
              <a:t>이 함수를 호출하고 모델링하면</a:t>
            </a:r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해당되는 텍스쳐가 적용된다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48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 err="1">
                <a:solidFill>
                  <a:srgbClr val="984E4E"/>
                </a:solidFill>
                <a:latin typeface="+mn-ea"/>
                <a:ea typeface="+mn-ea"/>
              </a:rPr>
              <a:t>KeyBoard</a:t>
            </a:r>
            <a:r>
              <a:rPr lang="en-US" altLang="ko-KR" dirty="0">
                <a:solidFill>
                  <a:srgbClr val="984E4E"/>
                </a:solidFill>
                <a:latin typeface="+mn-ea"/>
                <a:ea typeface="+mn-ea"/>
              </a:rPr>
              <a:t> Function</a:t>
            </a:r>
            <a:endParaRPr lang="ko-KR" altLang="en-US" dirty="0">
              <a:solidFill>
                <a:srgbClr val="984E4E"/>
              </a:solidFill>
              <a:latin typeface="+mn-ea"/>
              <a:ea typeface="+mn-ea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094873" y="3607783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n-ea"/>
              </a:rPr>
              <a:t>float zoom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" name="직선 연결선 8"/>
          <p:cNvCxnSpPr>
            <a:stCxn id="10" idx="2"/>
            <a:endCxn id="8" idx="0"/>
          </p:cNvCxnSpPr>
          <p:nvPr/>
        </p:nvCxnSpPr>
        <p:spPr>
          <a:xfrm flipH="1">
            <a:off x="2207795" y="3083093"/>
            <a:ext cx="1" cy="5246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757990" y="2349167"/>
            <a:ext cx="289961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keyboard()</a:t>
            </a:r>
          </a:p>
        </p:txBody>
      </p:sp>
      <p:sp>
        <p:nvSpPr>
          <p:cNvPr id="15" name="오각형 14"/>
          <p:cNvSpPr/>
          <p:nvPr/>
        </p:nvSpPr>
        <p:spPr>
          <a:xfrm>
            <a:off x="3970421" y="2349167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dirty="0">
                <a:latin typeface="+mn-ea"/>
              </a:rPr>
              <a:t>zoom </a:t>
            </a:r>
            <a:r>
              <a:rPr lang="ko-KR" altLang="en-US" sz="1350" dirty="0">
                <a:latin typeface="+mn-ea"/>
              </a:rPr>
              <a:t>값을 조절한다</a:t>
            </a:r>
            <a:r>
              <a:rPr lang="en-US" altLang="ko-KR" sz="1350" dirty="0">
                <a:latin typeface="+mn-ea"/>
              </a:rPr>
              <a:t>.</a:t>
            </a:r>
            <a:endParaRPr lang="ko-KR" altLang="en-US" sz="1350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51920" y="3513081"/>
            <a:ext cx="5654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전역 변수인 </a:t>
            </a:r>
            <a:r>
              <a:rPr lang="en-US" altLang="ko-KR" dirty="0">
                <a:solidFill>
                  <a:srgbClr val="984E4E"/>
                </a:solidFill>
                <a:latin typeface="+mn-ea"/>
              </a:rPr>
              <a:t>zoom</a:t>
            </a:r>
            <a:r>
              <a:rPr lang="ko-KR" altLang="en-US" dirty="0">
                <a:latin typeface="+mn-ea"/>
              </a:rPr>
              <a:t>값을 조절하면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reshape()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dirty="0" err="1">
                <a:latin typeface="+mn-ea"/>
              </a:rPr>
              <a:t>gluPerspective</a:t>
            </a:r>
            <a:r>
              <a:rPr lang="en-US" altLang="ko-KR" dirty="0">
                <a:latin typeface="+mn-ea"/>
              </a:rPr>
              <a:t>()</a:t>
            </a:r>
            <a:r>
              <a:rPr lang="ko-KR" altLang="en-US" dirty="0">
                <a:latin typeface="+mn-ea"/>
              </a:rPr>
              <a:t>를 이용해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멀고 가까움을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조절한다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009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144379" y="274638"/>
            <a:ext cx="8229600" cy="1143000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rgbClr val="984E4E"/>
                </a:solidFill>
                <a:latin typeface="+mn-ea"/>
                <a:ea typeface="+mn-ea"/>
              </a:rPr>
              <a:t>Mouse Function</a:t>
            </a:r>
            <a:endParaRPr lang="ko-KR" altLang="en-US" dirty="0">
              <a:solidFill>
                <a:srgbClr val="984E4E"/>
              </a:solidFill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57990" y="2349167"/>
            <a:ext cx="289961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processMouse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sp>
        <p:nvSpPr>
          <p:cNvPr id="15" name="오각형 14"/>
          <p:cNvSpPr/>
          <p:nvPr/>
        </p:nvSpPr>
        <p:spPr>
          <a:xfrm>
            <a:off x="3970421" y="2349167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+mn-ea"/>
              </a:rPr>
              <a:t>마우스 왼쪽 버튼 클릭 시 좌표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1920" y="4373633"/>
            <a:ext cx="5654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클릭 이벤트에서 </a:t>
            </a:r>
            <a:r>
              <a:rPr lang="en-US" altLang="ko-KR" dirty="0" err="1">
                <a:solidFill>
                  <a:srgbClr val="984E4E"/>
                </a:solidFill>
                <a:latin typeface="+mn-ea"/>
              </a:rPr>
              <a:t>x,y</a:t>
            </a:r>
            <a:r>
              <a:rPr lang="en-US" altLang="ko-KR" dirty="0">
                <a:solidFill>
                  <a:srgbClr val="984E4E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984E4E"/>
                </a:solidFill>
                <a:latin typeface="+mn-ea"/>
              </a:rPr>
              <a:t>좌표값</a:t>
            </a:r>
            <a:r>
              <a:rPr lang="ko-KR" altLang="en-US" dirty="0">
                <a:latin typeface="+mn-ea"/>
              </a:rPr>
              <a:t>을 저장한 뒤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계산을 통해 </a:t>
            </a:r>
            <a:r>
              <a:rPr lang="en-US" altLang="ko-KR" dirty="0" err="1">
                <a:latin typeface="+mn-ea"/>
              </a:rPr>
              <a:t>gluLookAt</a:t>
            </a:r>
            <a:r>
              <a:rPr lang="en-US" altLang="ko-KR" dirty="0">
                <a:latin typeface="+mn-ea"/>
              </a:rPr>
              <a:t>()</a:t>
            </a:r>
            <a:r>
              <a:rPr lang="ko-KR" altLang="en-US" dirty="0">
                <a:latin typeface="+mn-ea"/>
              </a:rPr>
              <a:t>에 적용되는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solidFill>
                  <a:srgbClr val="984E4E"/>
                </a:solidFill>
                <a:latin typeface="+mn-ea"/>
              </a:rPr>
              <a:t>theta, phi </a:t>
            </a:r>
            <a:r>
              <a:rPr lang="ko-KR" altLang="en-US" dirty="0">
                <a:latin typeface="+mn-ea"/>
              </a:rPr>
              <a:t>값을 변경하고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화면을 다시 그린다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57990" y="3408751"/>
            <a:ext cx="289961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processMouseMotion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sp>
        <p:nvSpPr>
          <p:cNvPr id="12" name="오각형 11"/>
          <p:cNvSpPr/>
          <p:nvPr/>
        </p:nvSpPr>
        <p:spPr>
          <a:xfrm>
            <a:off x="3970421" y="3408751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+mn-ea"/>
              </a:rPr>
              <a:t>마우스가 움직일 때 보는 방향 변경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010652" y="4468335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+mn-ea"/>
              </a:rPr>
              <a:t>float theta, phi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2123573" y="4142677"/>
            <a:ext cx="6015" cy="325658"/>
          </a:xfrm>
          <a:prstGeom prst="line">
            <a:avLst/>
          </a:prstGeom>
          <a:effectLst>
            <a:softEdge rad="63500"/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812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>
                <a:solidFill>
                  <a:srgbClr val="984E4E"/>
                </a:solidFill>
                <a:latin typeface="+mn-ea"/>
                <a:ea typeface="+mn-ea"/>
              </a:rPr>
              <a:t>Lighting</a:t>
            </a:r>
            <a:endParaRPr lang="ko-KR" altLang="en-US" dirty="0">
              <a:solidFill>
                <a:srgbClr val="984E4E"/>
              </a:solidFill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57990" y="2349167"/>
            <a:ext cx="2899610" cy="7339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+mn-ea"/>
              </a:rPr>
              <a:t>InitLight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sp>
        <p:nvSpPr>
          <p:cNvPr id="15" name="오각형 14"/>
          <p:cNvSpPr/>
          <p:nvPr/>
        </p:nvSpPr>
        <p:spPr>
          <a:xfrm>
            <a:off x="3970421" y="2349167"/>
            <a:ext cx="3815954" cy="733926"/>
          </a:xfrm>
          <a:prstGeom prst="homePlat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+mn-ea"/>
              </a:rPr>
              <a:t>조명 설정 및 사용</a:t>
            </a:r>
            <a:r>
              <a:rPr lang="en-US" altLang="ko-KR" sz="1350" dirty="0">
                <a:latin typeface="+mn-ea"/>
              </a:rPr>
              <a:t>.</a:t>
            </a:r>
            <a:endParaRPr lang="ko-KR" altLang="en-US" sz="1350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60007" y="3673956"/>
            <a:ext cx="2962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ea"/>
              </a:rPr>
              <a:t>GL_LIGHTING </a:t>
            </a:r>
            <a:r>
              <a:rPr lang="ko-KR" altLang="en-US" dirty="0">
                <a:latin typeface="+mn-ea"/>
              </a:rPr>
              <a:t>값을 인자로</a:t>
            </a:r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조명을 사용하도록 설정한다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94873" y="3618617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glEnable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7" name="직선 연결선 16"/>
          <p:cNvCxnSpPr>
            <a:endCxn id="16" idx="0"/>
          </p:cNvCxnSpPr>
          <p:nvPr/>
        </p:nvCxnSpPr>
        <p:spPr>
          <a:xfrm flipH="1">
            <a:off x="2207795" y="3083093"/>
            <a:ext cx="1" cy="5355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모서리가 둥근 직사각형 17"/>
          <p:cNvSpPr/>
          <p:nvPr/>
        </p:nvSpPr>
        <p:spPr>
          <a:xfrm>
            <a:off x="1094873" y="4868822"/>
            <a:ext cx="2225843" cy="733926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635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glLightfv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()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" name="직선 연결선 18"/>
          <p:cNvCxnSpPr>
            <a:endCxn id="18" idx="0"/>
          </p:cNvCxnSpPr>
          <p:nvPr/>
        </p:nvCxnSpPr>
        <p:spPr>
          <a:xfrm flipH="1">
            <a:off x="2207795" y="4333298"/>
            <a:ext cx="1" cy="5355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60008" y="4912619"/>
            <a:ext cx="2962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ambient </a:t>
            </a:r>
            <a:r>
              <a:rPr lang="ko-KR" altLang="en-US" dirty="0">
                <a:latin typeface="+mn-ea"/>
              </a:rPr>
              <a:t>조명을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사용하도록 설정한다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2032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>
                <a:solidFill>
                  <a:srgbClr val="984E4E"/>
                </a:solidFill>
              </a:rPr>
              <a:t>개발환경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운영체제</a:t>
            </a:r>
            <a:r>
              <a:rPr lang="en-US" altLang="ko-KR" sz="3600" dirty="0"/>
              <a:t>(</a:t>
            </a:r>
            <a:r>
              <a:rPr lang="en-US" altLang="ko-KR" sz="3600" dirty="0">
                <a:solidFill>
                  <a:srgbClr val="D07C7A"/>
                </a:solidFill>
              </a:rPr>
              <a:t>OS</a:t>
            </a:r>
            <a:r>
              <a:rPr lang="en-US" altLang="ko-KR" sz="3600" dirty="0"/>
              <a:t>)</a:t>
            </a:r>
          </a:p>
          <a:p>
            <a:pPr marL="457200" lvl="1" indent="0">
              <a:buNone/>
            </a:pPr>
            <a:r>
              <a:rPr lang="en-US" altLang="ko-KR" sz="3200" dirty="0"/>
              <a:t>	Windows 7 Enterprise K</a:t>
            </a:r>
            <a:r>
              <a:rPr lang="ko-KR" altLang="en-US" sz="3200" dirty="0"/>
              <a:t> </a:t>
            </a:r>
            <a:r>
              <a:rPr lang="en-US" altLang="ko-KR" sz="3200" dirty="0"/>
              <a:t>64-bit</a:t>
            </a:r>
          </a:p>
          <a:p>
            <a:r>
              <a:rPr lang="ko-KR" altLang="en-US" sz="3600" dirty="0"/>
              <a:t>통합개발환경</a:t>
            </a:r>
            <a:r>
              <a:rPr lang="en-US" altLang="ko-KR" sz="3600" dirty="0"/>
              <a:t>(</a:t>
            </a:r>
            <a:r>
              <a:rPr lang="en-US" altLang="ko-KR" sz="3600" dirty="0">
                <a:solidFill>
                  <a:srgbClr val="D07C7A"/>
                </a:solidFill>
              </a:rPr>
              <a:t>IDE</a:t>
            </a:r>
            <a:r>
              <a:rPr lang="en-US" altLang="ko-KR" sz="3600" dirty="0"/>
              <a:t>)</a:t>
            </a:r>
            <a:endParaRPr lang="en-US" altLang="ko-KR" sz="2400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en-US" altLang="ko-KR" sz="3200" dirty="0"/>
              <a:t>Microsoft Visual C++ 2010 Express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10278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>
                <a:solidFill>
                  <a:srgbClr val="984E4E"/>
                </a:solidFill>
              </a:rPr>
              <a:t>구현기능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D07C7A"/>
                </a:solidFill>
              </a:rPr>
              <a:t>마우스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D07C7A"/>
                </a:solidFill>
              </a:rPr>
              <a:t>드래깅</a:t>
            </a:r>
            <a:r>
              <a:rPr lang="ko-KR" altLang="en-US" dirty="0"/>
              <a:t>을 통한 오브젝트의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>
                <a:solidFill>
                  <a:srgbClr val="996633"/>
                </a:solidFill>
              </a:rPr>
              <a:t>3D rotation</a:t>
            </a:r>
          </a:p>
          <a:p>
            <a:r>
              <a:rPr lang="en-US" altLang="ko-KR" dirty="0">
                <a:solidFill>
                  <a:srgbClr val="D07C7A"/>
                </a:solidFill>
              </a:rPr>
              <a:t>‘a’, ‘z’ key</a:t>
            </a:r>
            <a:r>
              <a:rPr lang="ko-KR" altLang="en-US" dirty="0"/>
              <a:t>를 통한 오브젝트의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sz="3200" dirty="0">
                <a:solidFill>
                  <a:srgbClr val="996633"/>
                </a:solidFill>
              </a:rPr>
              <a:t>	zoom in, zoom out</a:t>
            </a:r>
          </a:p>
        </p:txBody>
      </p:sp>
    </p:spTree>
    <p:extLst>
      <p:ext uri="{BB962C8B-B14F-4D97-AF65-F5344CB8AC3E}">
        <p14:creationId xmlns:p14="http://schemas.microsoft.com/office/powerpoint/2010/main" val="2954277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984E4E"/>
                </a:solidFill>
              </a:rPr>
              <a:t>실행화면</a:t>
            </a:r>
            <a:r>
              <a:rPr lang="en-US" altLang="ko-KR" dirty="0">
                <a:solidFill>
                  <a:srgbClr val="984E4E"/>
                </a:solidFill>
              </a:rPr>
              <a:t>(rotation)</a:t>
            </a:r>
            <a:endParaRPr lang="en-US" dirty="0">
              <a:solidFill>
                <a:srgbClr val="984E4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front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back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82" y="2174875"/>
            <a:ext cx="3836424" cy="395128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700" y="2174875"/>
            <a:ext cx="3836424" cy="395128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122183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984E4E"/>
                </a:solidFill>
              </a:rPr>
              <a:t>실행화면</a:t>
            </a:r>
            <a:r>
              <a:rPr lang="en-US" altLang="ko-KR" dirty="0">
                <a:solidFill>
                  <a:srgbClr val="984E4E"/>
                </a:solidFill>
              </a:rPr>
              <a:t>(zoom)</a:t>
            </a:r>
            <a:endParaRPr lang="en-US" dirty="0">
              <a:solidFill>
                <a:srgbClr val="984E4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zoom 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zoom out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82" y="2174875"/>
            <a:ext cx="3836424" cy="395128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1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700" y="2174875"/>
            <a:ext cx="3836424" cy="395128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911080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984E4E"/>
                </a:solidFill>
              </a:rPr>
              <a:t>데모영상</a:t>
            </a:r>
            <a:endParaRPr lang="en-US" dirty="0">
              <a:solidFill>
                <a:srgbClr val="984E4E"/>
              </a:solidFill>
            </a:endParaRPr>
          </a:p>
        </p:txBody>
      </p:sp>
      <p:pic>
        <p:nvPicPr>
          <p:cNvPr id="5" name="너랑나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6100" y="1600200"/>
            <a:ext cx="8051800" cy="4525963"/>
          </a:xfrm>
        </p:spPr>
      </p:pic>
    </p:spTree>
    <p:extLst>
      <p:ext uri="{BB962C8B-B14F-4D97-AF65-F5344CB8AC3E}">
        <p14:creationId xmlns:p14="http://schemas.microsoft.com/office/powerpoint/2010/main" val="211716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679055"/>
            <a:ext cx="7772400" cy="1470025"/>
          </a:xfrm>
        </p:spPr>
        <p:txBody>
          <a:bodyPr/>
          <a:lstStyle/>
          <a:p>
            <a:r>
              <a:rPr lang="en-US" altLang="ko-KR" dirty="0"/>
              <a:t>the 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9091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배달의민족 도현"/>
        <a:ea typeface="배달의민족 도현"/>
        <a:cs typeface=""/>
      </a:majorFont>
      <a:minorFont>
        <a:latin typeface="배달의민족 도현"/>
        <a:ea typeface="배달의민족 도현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438</Words>
  <Application>Microsoft Office PowerPoint</Application>
  <PresentationFormat>화면 슬라이드 쇼(4:3)</PresentationFormat>
  <Paragraphs>115</Paragraphs>
  <Slides>19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배달의민족 도현</vt:lpstr>
      <vt:lpstr>맑은 고딕</vt:lpstr>
      <vt:lpstr>Arial</vt:lpstr>
      <vt:lpstr>나눔바른고딕</vt:lpstr>
      <vt:lpstr>Office 테마</vt:lpstr>
      <vt:lpstr>IU 너랑 나</vt:lpstr>
      <vt:lpstr>목차</vt:lpstr>
      <vt:lpstr>개발목표</vt:lpstr>
      <vt:lpstr>Modeling - 전체구조</vt:lpstr>
      <vt:lpstr>Modeling – 구, 타원체</vt:lpstr>
      <vt:lpstr>Modeling - 원기둥</vt:lpstr>
      <vt:lpstr>Modeling - 원기둥</vt:lpstr>
      <vt:lpstr>Modeling - 원</vt:lpstr>
      <vt:lpstr>Texture Mapping - 로딩</vt:lpstr>
      <vt:lpstr>Texture Mapping - 사용</vt:lpstr>
      <vt:lpstr>KeyBoard Function</vt:lpstr>
      <vt:lpstr>Mouse Function</vt:lpstr>
      <vt:lpstr>Lighting</vt:lpstr>
      <vt:lpstr>개발환경</vt:lpstr>
      <vt:lpstr>구현기능</vt:lpstr>
      <vt:lpstr>실행화면(rotation)</vt:lpstr>
      <vt:lpstr>실행화면(zoom)</vt:lpstr>
      <vt:lpstr>데모영상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PING ME(핑미)</dc:title>
  <dc:creator>이성화</dc:creator>
  <cp:lastModifiedBy>정진 이</cp:lastModifiedBy>
  <cp:revision>50</cp:revision>
  <dcterms:created xsi:type="dcterms:W3CDTF">2016-04-25T04:58:02Z</dcterms:created>
  <dcterms:modified xsi:type="dcterms:W3CDTF">2025-03-03T04:45:54Z</dcterms:modified>
</cp:coreProperties>
</file>