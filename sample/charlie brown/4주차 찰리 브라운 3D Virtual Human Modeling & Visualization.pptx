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8229600" cy="14630400"/>
  <p:embeddedFontLst>
    <p:embeddedFont>
      <p:font typeface="Anton" panose="020F0502020204030204" pitchFamily="2" charset="0"/>
      <p:regular r:id="rId16"/>
    </p:embeddedFont>
    <p:embeddedFont>
      <p:font typeface="Fira Sans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36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CE8C-194E-8886-98EA-8B044EE5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36F62-41CB-D549-524F-D260A75F7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29A5C-35CC-A1B3-410E-183501FDF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0863B-B2BE-693D-694F-A43DAE538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0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24FF-9490-95C3-CEFD-706838E8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B73CD-F3D0-D81E-A6DE-6EA7DE03A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6A1F8-7693-3A6E-C97F-9DF8570A2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1F0B-B43F-6B08-2D69-D90F2FEFD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2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3497"/>
            <a:ext cx="83007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Computer Graphics OpenGL 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프로젝트</a:t>
            </a:r>
            <a:endParaRPr lang="en-US" sz="44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12438"/>
            <a:ext cx="76227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3D Virtual Human Modeling &amp; Visualization</a:t>
            </a:r>
            <a:endParaRPr lang="en-US" sz="355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195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376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3561B1-B21B-D49C-5DE7-638C92388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504" y="643771"/>
            <a:ext cx="4332208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1. </a:t>
            </a:r>
            <a:r>
              <a:rPr lang="ko-KR" altLang="en-US" sz="34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구현 모델</a:t>
            </a:r>
            <a:endParaRPr lang="en-US" sz="34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6504" y="1601033"/>
            <a:ext cx="3590925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77" y="2550990"/>
            <a:ext cx="2881432" cy="45162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756" y="1330285"/>
            <a:ext cx="4518541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Peanuts </a:t>
            </a:r>
            <a:r>
              <a:rPr lang="ko-KR" altLang="en-US" sz="34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캐릭터 찰리 브라운 </a:t>
            </a:r>
            <a:r>
              <a:rPr lang="en-US" altLang="ko-KR" sz="34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3D </a:t>
            </a:r>
            <a:r>
              <a:rPr lang="ko-KR" altLang="en-US" sz="34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모델링</a:t>
            </a:r>
            <a:endParaRPr lang="en-US" sz="340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38712" y="2575837"/>
            <a:ext cx="940367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세계적으로 유명한 Peanuts 만화의 주인공 </a:t>
            </a:r>
            <a:r>
              <a:rPr lang="en-US" sz="1700" b="1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찰리 브라운</a:t>
            </a:r>
            <a:r>
              <a:rPr lang="en-US" sz="170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을 3D 모델링으로 구현해보았습니다.</a:t>
            </a:r>
            <a:endParaRPr lang="en-US" sz="1700" dirty="0">
              <a:latin typeface="+mn-ea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215" y="3243504"/>
            <a:ext cx="6979606" cy="39259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A509D49-C41F-B87C-ECAD-D72123C61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DA48-D56C-8697-2F0D-D524B43D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3631B8-69A8-108B-F915-AD598066E6D0}"/>
              </a:ext>
            </a:extLst>
          </p:cNvPr>
          <p:cNvSpPr/>
          <p:nvPr/>
        </p:nvSpPr>
        <p:spPr>
          <a:xfrm>
            <a:off x="793790" y="32132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freeglut.h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E7D444-CFE9-4777-3B73-D3EC2EA68602}"/>
              </a:ext>
            </a:extLst>
          </p:cNvPr>
          <p:cNvSpPr/>
          <p:nvPr/>
        </p:nvSpPr>
        <p:spPr>
          <a:xfrm>
            <a:off x="793790" y="39787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ko-KR" sz="1750" dirty="0">
                <a:solidFill>
                  <a:schemeClr val="bg1">
                    <a:lumMod val="85000"/>
                  </a:schemeClr>
                </a:solidFill>
              </a:rPr>
              <a:t>OpenGL</a:t>
            </a:r>
            <a:r>
              <a:rPr lang="ko-KR" altLang="en-US" sz="1750" dirty="0">
                <a:solidFill>
                  <a:schemeClr val="bg1">
                    <a:lumMod val="85000"/>
                  </a:schemeClr>
                </a:solidFill>
              </a:rPr>
              <a:t>을 사용하여 창을 만들고</a:t>
            </a:r>
            <a:r>
              <a:rPr lang="en-US" altLang="ko-KR" sz="175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750" dirty="0">
                <a:solidFill>
                  <a:schemeClr val="bg1">
                    <a:lumMod val="85000"/>
                  </a:schemeClr>
                </a:solidFill>
              </a:rPr>
              <a:t>이벤트를 처리하며</a:t>
            </a:r>
            <a:r>
              <a:rPr lang="en-US" altLang="ko-KR" sz="175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750" dirty="0">
                <a:solidFill>
                  <a:schemeClr val="bg1">
                    <a:lumMod val="85000"/>
                  </a:schemeClr>
                </a:solidFill>
              </a:rPr>
              <a:t>그래픽을 그리기 위한 주요 함수를 제공합니다</a:t>
            </a:r>
            <a:endParaRPr lang="en-US" sz="17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C289C2-9A5D-CE1E-70E2-A67D6A874B38}"/>
              </a:ext>
            </a:extLst>
          </p:cNvPr>
          <p:cNvSpPr/>
          <p:nvPr/>
        </p:nvSpPr>
        <p:spPr>
          <a:xfrm>
            <a:off x="793790" y="46817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 err="1">
                <a:solidFill>
                  <a:srgbClr val="FA95AF"/>
                </a:solidFill>
                <a:latin typeface="+mj-ea"/>
                <a:ea typeface="+mj-ea"/>
              </a:rPr>
              <a:t>stb_image.h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3917E5-BE65-90B0-645F-FCF22F8CEF74}"/>
              </a:ext>
            </a:extLst>
          </p:cNvPr>
          <p:cNvSpPr/>
          <p:nvPr/>
        </p:nvSpPr>
        <p:spPr>
          <a:xfrm>
            <a:off x="793790" y="54472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chemeClr val="bg1">
                    <a:lumMod val="85000"/>
                  </a:schemeClr>
                </a:solidFill>
              </a:rPr>
              <a:t>이미지 파일을 </a:t>
            </a:r>
            <a:r>
              <a:rPr lang="ko-KR" altLang="en-US" sz="1750" dirty="0" err="1">
                <a:solidFill>
                  <a:schemeClr val="bg1">
                    <a:lumMod val="85000"/>
                  </a:schemeClr>
                </a:solidFill>
              </a:rPr>
              <a:t>로드하여</a:t>
            </a:r>
            <a:r>
              <a:rPr lang="ko-KR" altLang="en-US" sz="17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ko-KR" sz="1750" dirty="0">
                <a:solidFill>
                  <a:schemeClr val="bg1">
                    <a:lumMod val="85000"/>
                  </a:schemeClr>
                </a:solidFill>
              </a:rPr>
              <a:t>OpenGL </a:t>
            </a:r>
            <a:r>
              <a:rPr lang="ko-KR" altLang="en-US" sz="1750" dirty="0">
                <a:solidFill>
                  <a:schemeClr val="bg1">
                    <a:lumMod val="85000"/>
                  </a:schemeClr>
                </a:solidFill>
              </a:rPr>
              <a:t>텍스처로 사용할 수 있게 변환하는 헤더 파일</a:t>
            </a:r>
            <a:endParaRPr lang="en-US" altLang="ko-KR" sz="17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72C1CF-4121-76C0-4393-036E883D8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7AA993A0-2684-077E-E77A-06B4838FC621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2-1. OpenGL 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헤더 파일</a:t>
            </a:r>
            <a:endParaRPr lang="en-US" sz="44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4844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29754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main()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0630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OpenGL 초기화, 텍스처 로드, 콜백 등록, 메인 루프 실행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7660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display()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5315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카메라/조명 설정 후 전체 장면 렌더링 (배경, 땅, 찰리 브라운)</a:t>
            </a:r>
            <a:endParaRPr lang="en-US" sz="175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2345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reshape(w, h)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000036"/>
            <a:ext cx="13042821" cy="84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창 크기 변경 시 투영(view) </a:t>
            </a:r>
            <a:r>
              <a:rPr lang="en-US" sz="1750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재조정</a:t>
            </a:r>
            <a:endParaRPr lang="en-US" sz="1750" dirty="0">
              <a:solidFill>
                <a:srgbClr val="E0D6DE"/>
              </a:solidFill>
              <a:latin typeface="+mn-ea"/>
              <a:cs typeface="Fira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a/z </a:t>
            </a:r>
            <a:r>
              <a:rPr lang="en-US" altLang="ko-KR" sz="1750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키로</a:t>
            </a:r>
            <a:r>
              <a:rPr lang="en-US" altLang="ko-KR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 줌 인/</a:t>
            </a:r>
            <a:r>
              <a:rPr lang="en-US" altLang="ko-KR" sz="1750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아웃</a:t>
            </a:r>
            <a:r>
              <a:rPr lang="en-US" altLang="ko-KR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 </a:t>
            </a:r>
            <a:r>
              <a:rPr lang="en-US" altLang="ko-KR" sz="1750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조절</a:t>
            </a:r>
            <a:endParaRPr lang="en-US" altLang="ko-KR" sz="1750" dirty="0">
              <a:latin typeface="+mn-ea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E95958-2E6E-C910-7E58-696A663DA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89357F02-473D-1A6F-17EE-56F780202A45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2-2. OpenGL 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초기화 및 </a:t>
            </a:r>
            <a:r>
              <a:rPr lang="ko-KR" altLang="en-US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인터렉션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ko-KR" altLang="en-US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콜백</a:t>
            </a: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endParaRPr lang="en-US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712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mouse() / motion()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074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마우스 드래그로 캐릭터 회전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10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mouseWheel()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050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마우스 휠로 카메라 줌 조절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08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setupLighting()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2025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조명 위치와 광원 특성 설정</a:t>
            </a:r>
            <a:endParaRPr lang="en-US" sz="17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EE9693-2612-45A0-5019-280AC3CE6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873D5802-A957-BC16-B86C-B3298B343431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2-2. OpenGL 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초기화 및 </a:t>
            </a:r>
            <a:r>
              <a:rPr lang="ko-KR" altLang="en-US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인터렉션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ko-KR" altLang="en-US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콜백</a:t>
            </a: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endParaRPr lang="en-US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3411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n-ea"/>
                <a:cs typeface="Anton" pitchFamily="34" charset="-120"/>
              </a:rPr>
              <a:t>idle()</a:t>
            </a:r>
            <a:endParaRPr lang="en-US" sz="30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06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화면 강제 업데이트 (프레임 유지용)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09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n-ea"/>
                <a:cs typeface="Anton" pitchFamily="34" charset="-120"/>
              </a:rPr>
              <a:t>loadTexture(filename</a:t>
            </a:r>
            <a:r>
              <a:rPr lang="en-US" sz="30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93790" y="55037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이미지 파일을 불러와 텍스처로 생성</a:t>
            </a:r>
            <a:endParaRPr lang="en-US" sz="175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E2FCE2F-A648-AB8A-B37A-0CD7F5403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D0E67B15-7917-7B3C-0D80-5F9DDA76F817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2-2. OpenGL 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초기화 및 </a:t>
            </a:r>
            <a:r>
              <a:rPr lang="ko-KR" altLang="en-US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인터렉션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ko-KR" altLang="en-US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콜백</a:t>
            </a:r>
            <a:r>
              <a:rPr 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endParaRPr lang="en-US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41086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 err="1">
                <a:solidFill>
                  <a:srgbClr val="FA95AF"/>
                </a:solidFill>
                <a:latin typeface="+mn-ea"/>
                <a:cs typeface="Anton" pitchFamily="34" charset="-120"/>
              </a:rPr>
              <a:t>drawCharlieHead</a:t>
            </a:r>
            <a:r>
              <a:rPr lang="en-US" sz="3000" dirty="0">
                <a:solidFill>
                  <a:srgbClr val="FA95AF"/>
                </a:solidFill>
                <a:latin typeface="+mn-ea"/>
                <a:cs typeface="Anton" pitchFamily="34" charset="-120"/>
              </a:rPr>
              <a:t>()</a:t>
            </a:r>
            <a:endParaRPr lang="en-US" sz="30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3289626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glutSolidSphere()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기본 머리 구 형성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89" y="3747064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코, 눈, 귀 등은 작은 구체(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glutSolidSphere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)와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glTranslatef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위치 조정</a:t>
            </a:r>
            <a:endParaRPr lang="en-US" sz="175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89" y="4204502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입은 포물선 + 구체 위 좌표 계산하여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GL_LINE_STRIP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으로 표현</a:t>
            </a:r>
            <a:endParaRPr lang="en-US" sz="175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89" y="46619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눈썹도 포물선 그리기, 머리카락은 Bezier 곡선으로 형태 구현</a:t>
            </a:r>
            <a:endParaRPr lang="en-US" sz="175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10896C-7038-0FE0-1827-30ED6FF0E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3A8F8A97-12F9-3188-F86C-26964503BF34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3.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렌더링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(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찰리브라운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)</a:t>
            </a:r>
            <a:endParaRPr lang="en-US" altLang="ko-KR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3233630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목은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gluCylinder()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얇은 원기둥으로 형성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6910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몸통은 아래쪽이 좁고 위쪽이 넓은 원기둥 (pow 함수로 곡률 조정)</a:t>
            </a:r>
            <a:endParaRPr lang="en-US" sz="175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133266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옷 텍스처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textureID_zigzag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(zigzag_texture.png)를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glTexCoord2f()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입힘</a:t>
            </a:r>
            <a:endParaRPr lang="en-US" sz="175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590704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밑면은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GL_TRIANGLE_FAN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으로 둥근 원판 렌더링</a:t>
            </a:r>
            <a:endParaRPr lang="en-US" sz="175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048142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카라는 위 평평하고 아래쪽 ∧자 컷팅 (각도 따라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yOffset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 계산하여 패임 표현)</a:t>
            </a:r>
            <a:endParaRPr lang="en-US" sz="1750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ADBD9A-59C2-101A-18B4-9D4496370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E1DD8E2E-775A-9871-2A40-316E98CB6032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3.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렌더링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(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찰리브라운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)</a:t>
            </a:r>
            <a:endParaRPr lang="en-US" altLang="ko-KR" sz="4450" dirty="0">
              <a:latin typeface="+mj-ea"/>
              <a:ea typeface="+mj-ea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DAD27EE2-A0B8-ACBE-5A77-F2DD61E57D83}"/>
              </a:ext>
            </a:extLst>
          </p:cNvPr>
          <p:cNvSpPr/>
          <p:nvPr/>
        </p:nvSpPr>
        <p:spPr>
          <a:xfrm>
            <a:off x="793790" y="24259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 err="1">
                <a:solidFill>
                  <a:srgbClr val="FA95AF"/>
                </a:solidFill>
                <a:latin typeface="+mn-ea"/>
                <a:cs typeface="Anton" pitchFamily="34" charset="-120"/>
              </a:rPr>
              <a:t>drawCharlieBody</a:t>
            </a:r>
            <a:r>
              <a:rPr lang="en-US" sz="3000" dirty="0">
                <a:solidFill>
                  <a:srgbClr val="FA95AF"/>
                </a:solidFill>
                <a:latin typeface="+mn-ea"/>
                <a:cs typeface="Anton" pitchFamily="34" charset="-120"/>
              </a:rPr>
              <a:t>()</a:t>
            </a:r>
            <a:endParaRPr lang="en-US" sz="3000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65461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drawPants()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20070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gluCylinder()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양쪽 바지 다리 구성 (좌우 대칭)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775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바지 겉면 안쪽에 살짝짝 어두운 원통 추가로 입체감 표현</a:t>
            </a:r>
            <a:endParaRPr lang="en-US" sz="175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319707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바지 윗면 덮개는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gluDisk()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 사용해서 덮음음</a:t>
            </a:r>
            <a:endParaRPr lang="en-US" sz="175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0380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drawLegs()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803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살색 다리는 얇은 원기둥으로 구현</a:t>
            </a:r>
            <a:endParaRPr lang="en-US" sz="175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245662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발목 아래 노란 양말은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glScalef()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약간 찌그러진 원기둥으로 구현</a:t>
            </a:r>
            <a:endParaRPr lang="en-US" sz="175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79F930-690D-D761-4408-E0568B713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6038C643-DC6C-CBE7-1FC5-C28418B7DD52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3.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렌더링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(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찰리브라운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)</a:t>
            </a:r>
            <a:endParaRPr lang="en-US" altLang="ko-KR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63937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drawShoes()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04830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gluSphere()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신발 본체 표현 후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glClipPlane()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으로 아래 반만 표시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62268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신발 텍스처는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textureID_shoes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(shoe_texture.png)로 씌움</a:t>
            </a:r>
            <a:endParaRPr lang="en-US" sz="175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319707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바닥은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gluDisk()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깔고, 스케일로 타원형 느낌 주기</a:t>
            </a:r>
            <a:endParaRPr lang="en-US" sz="175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0380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drawCharlieArms()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803463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어깨는 구체(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gluSphere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)로 스케일 조정, 소매는 넓어지는 원기둥 형태로 구현현</a:t>
            </a:r>
            <a:endParaRPr lang="en-US" sz="175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260902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팔은 원기둥(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gluCylinder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)으로 구현</a:t>
            </a:r>
            <a:endParaRPr lang="en-US" sz="175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0E46BC2-5029-3D1B-22C0-03CA5864F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2B563CE8-E448-8F58-537D-F74A4B7BF0DC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3.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렌더링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(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찰리브라운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)</a:t>
            </a:r>
            <a:endParaRPr lang="en-US" altLang="ko-KR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87571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drawGrassGround()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41169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GL_QUADS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넓은 바닥 그린 뒤 </a:t>
            </a: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textureID_grass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(grassground.png) 텍스처 적용</a:t>
            </a:r>
            <a:endParaRPr lang="en-US" sz="175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986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텍스처 좌표를 넓게 반복해서 자연스러운 풀밭 효과 구현</a:t>
            </a:r>
            <a:endParaRPr lang="en-US" sz="175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0167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drawSkyWall()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567124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GL_QUADS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로 정면 벽 생성</a:t>
            </a:r>
            <a:endParaRPr lang="en-US" sz="175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024563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highlight>
                  <a:srgbClr val="490315"/>
                </a:highlight>
                <a:latin typeface="+mn-ea"/>
                <a:cs typeface="Consolas" pitchFamily="34" charset="-120"/>
              </a:rPr>
              <a:t>textureID_background</a:t>
            </a:r>
            <a:r>
              <a:rPr lang="en-US" sz="1750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(background.png) 텍스처 적용으로 하늘+스누피 집 표현</a:t>
            </a:r>
            <a:endParaRPr lang="en-US" sz="1750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09DA49-24AF-10C3-897F-E1263087E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20E0853C-3FBB-A105-CDC9-AF0BBC6A288F}"/>
              </a:ext>
            </a:extLst>
          </p:cNvPr>
          <p:cNvSpPr/>
          <p:nvPr/>
        </p:nvSpPr>
        <p:spPr>
          <a:xfrm>
            <a:off x="793790" y="1248608"/>
            <a:ext cx="9086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3.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렌더링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</a:t>
            </a:r>
            <a:r>
              <a:rPr lang="en-US" altLang="ko-KR" sz="4450" dirty="0" err="1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함수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 (</a:t>
            </a:r>
            <a:r>
              <a:rPr lang="ko-KR" altLang="en-US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배경</a:t>
            </a:r>
            <a:r>
              <a:rPr lang="en-US" altLang="ko-KR" sz="44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)</a:t>
            </a:r>
            <a:endParaRPr lang="en-US" altLang="ko-KR" sz="4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223" y="504587"/>
            <a:ext cx="4587359" cy="57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4. </a:t>
            </a:r>
            <a:r>
              <a:rPr lang="ko-KR" altLang="en-US" sz="36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실행 결과</a:t>
            </a:r>
            <a:endParaRPr lang="en-US" sz="3600" dirty="0">
              <a:latin typeface="+mj-ea"/>
              <a:ea typeface="+mj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23" y="1372076"/>
            <a:ext cx="3690342" cy="274272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582" y="1351240"/>
            <a:ext cx="3690341" cy="276767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6940" y="1351240"/>
            <a:ext cx="3690341" cy="277884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23" y="4672954"/>
            <a:ext cx="3690342" cy="276953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42223" y="8000643"/>
            <a:ext cx="382833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581" y="4672954"/>
            <a:ext cx="3690341" cy="2737966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925854" y="7672030"/>
            <a:ext cx="478690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6940" y="4525208"/>
            <a:ext cx="3459038" cy="2602977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0500912" y="7248391"/>
            <a:ext cx="2091094" cy="325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300"/>
              </a:lnSpc>
              <a:buSzPct val="100000"/>
            </a:pPr>
            <a:r>
              <a:rPr lang="en-US" sz="1400" b="1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&lt;</a:t>
            </a:r>
            <a:r>
              <a:rPr lang="en-US" sz="1400" b="1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잔디</a:t>
            </a:r>
            <a:r>
              <a:rPr lang="en-US" sz="1400" b="1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 제거 후 </a:t>
            </a:r>
            <a:r>
              <a:rPr lang="en-US" sz="1400" b="1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보는</a:t>
            </a:r>
            <a:r>
              <a:rPr lang="en-US" sz="1400" b="1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 </a:t>
            </a:r>
            <a:r>
              <a:rPr lang="en-US" sz="1400" b="1" dirty="0" err="1">
                <a:solidFill>
                  <a:srgbClr val="E0D6DE"/>
                </a:solidFill>
                <a:latin typeface="+mn-ea"/>
                <a:cs typeface="Fira Sans" pitchFamily="34" charset="-120"/>
              </a:rPr>
              <a:t>상태</a:t>
            </a:r>
            <a:r>
              <a:rPr lang="en-US" sz="1400" b="1" dirty="0">
                <a:solidFill>
                  <a:srgbClr val="E0D6DE"/>
                </a:solidFill>
                <a:latin typeface="+mn-ea"/>
                <a:cs typeface="Fira Sans" pitchFamily="34" charset="-120"/>
              </a:rPr>
              <a:t>&gt;</a:t>
            </a:r>
            <a:endParaRPr lang="en-US" sz="1400" b="1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54E34C9-0CA8-60FE-4402-915CD0B0CE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7D33-A7CD-236E-166C-A33D08E3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719865C0-4332-1EF2-4A46-5AB5DBE6118A}"/>
              </a:ext>
            </a:extLst>
          </p:cNvPr>
          <p:cNvSpPr/>
          <p:nvPr/>
        </p:nvSpPr>
        <p:spPr>
          <a:xfrm>
            <a:off x="642223" y="8000643"/>
            <a:ext cx="382833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02579C5-D01E-9B2F-D35D-8789DC180B79}"/>
              </a:ext>
            </a:extLst>
          </p:cNvPr>
          <p:cNvSpPr/>
          <p:nvPr/>
        </p:nvSpPr>
        <p:spPr>
          <a:xfrm>
            <a:off x="4925854" y="7672030"/>
            <a:ext cx="478690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038DE6A-4091-1B4E-1711-F1EA18D65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2020" y="7688734"/>
            <a:ext cx="1765717" cy="4572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47509A0-12EC-7ACC-B7B0-99DC539B99FD}"/>
              </a:ext>
            </a:extLst>
          </p:cNvPr>
          <p:cNvSpPr/>
          <p:nvPr/>
        </p:nvSpPr>
        <p:spPr>
          <a:xfrm>
            <a:off x="642223" y="504587"/>
            <a:ext cx="4587359" cy="57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4. </a:t>
            </a:r>
            <a:r>
              <a:rPr lang="ko-KR" altLang="en-US" sz="360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실행 결과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7D9A2-5FC5-5AD7-990E-3C28E4388067}"/>
              </a:ext>
            </a:extLst>
          </p:cNvPr>
          <p:cNvSpPr txBox="1"/>
          <p:nvPr/>
        </p:nvSpPr>
        <p:spPr>
          <a:xfrm>
            <a:off x="642223" y="1217675"/>
            <a:ext cx="1268254" cy="599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ko-KR" altLang="en-US" sz="2650" dirty="0">
                <a:solidFill>
                  <a:srgbClr val="FA95AF"/>
                </a:solidFill>
                <a:latin typeface="+mj-ea"/>
                <a:ea typeface="+mj-ea"/>
                <a:cs typeface="Anton" pitchFamily="34" charset="-120"/>
              </a:rPr>
              <a:t>동영상</a:t>
            </a:r>
            <a:endParaRPr lang="en-US" altLang="ko-KR" sz="2650" dirty="0">
              <a:latin typeface="+mj-ea"/>
              <a:ea typeface="+mj-ea"/>
            </a:endParaRPr>
          </a:p>
        </p:txBody>
      </p:sp>
      <p:pic>
        <p:nvPicPr>
          <p:cNvPr id="6" name="실행결과_영상">
            <a:hlinkClick r:id="" action="ppaction://media"/>
            <a:extLst>
              <a:ext uri="{FF2B5EF4-FFF2-40B4-BE49-F238E27FC236}">
                <a16:creationId xmlns:a16="http://schemas.microsoft.com/office/drawing/2014/main" id="{8275BB93-925E-50F2-E470-638BD35D1A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513138" y="1517308"/>
            <a:ext cx="7604125" cy="600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2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4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527</Words>
  <Application>Microsoft Office PowerPoint</Application>
  <PresentationFormat>사용자 지정</PresentationFormat>
  <Paragraphs>83</Paragraphs>
  <Slides>13</Slides>
  <Notes>13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Fira Sans</vt:lpstr>
      <vt:lpstr>Anton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정진 이</cp:lastModifiedBy>
  <cp:revision>26</cp:revision>
  <dcterms:created xsi:type="dcterms:W3CDTF">2025-06-12T11:16:58Z</dcterms:created>
  <dcterms:modified xsi:type="dcterms:W3CDTF">2026-03-19T11:37:37Z</dcterms:modified>
</cp:coreProperties>
</file>