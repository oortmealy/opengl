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4" r:id="rId5"/>
    <p:sldId id="261" r:id="rId6"/>
    <p:sldId id="272" r:id="rId7"/>
    <p:sldId id="262" r:id="rId8"/>
    <p:sldId id="273" r:id="rId9"/>
    <p:sldId id="279" r:id="rId10"/>
    <p:sldId id="270" r:id="rId11"/>
    <p:sldId id="275" r:id="rId12"/>
    <p:sldId id="271" r:id="rId13"/>
    <p:sldId id="274" r:id="rId14"/>
    <p:sldId id="276" r:id="rId15"/>
    <p:sldId id="278" r:id="rId16"/>
    <p:sldId id="277" r:id="rId17"/>
    <p:sldId id="269" r:id="rId18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howGuides="1">
      <p:cViewPr varScale="1">
        <p:scale>
          <a:sx n="89" d="100"/>
          <a:sy n="89" d="100"/>
        </p:scale>
        <p:origin x="1416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71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3292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442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322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134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620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145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8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336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521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89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590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40C8-E0C3-413F-987D-EA5A065958A0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AA842-3920-412E-8384-929010553F9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6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9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8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microsoft.com/office/2007/relationships/hdphoto" Target="../media/hdphoto1.wdp"/><Relationship Id="rId7" Type="http://schemas.openxmlformats.org/officeDocument/2006/relationships/image" Target="../media/image1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0.jpe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1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12.jpe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7.wdp"/><Relationship Id="rId5" Type="http://schemas.openxmlformats.org/officeDocument/2006/relationships/image" Target="../media/image14.jpe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779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39000">
                <a:schemeClr val="tx1">
                  <a:alpha val="77000"/>
                </a:schemeClr>
              </a:gs>
              <a:gs pos="71000">
                <a:schemeClr val="tx1">
                  <a:alpha val="52000"/>
                </a:schemeClr>
              </a:gs>
              <a:gs pos="94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/>
          <p:cNvSpPr/>
          <p:nvPr/>
        </p:nvSpPr>
        <p:spPr>
          <a:xfrm>
            <a:off x="-2412776" y="1419622"/>
            <a:ext cx="2016224" cy="2016224"/>
          </a:xfrm>
          <a:prstGeom prst="ellipse">
            <a:avLst/>
          </a:prstGeom>
          <a:noFill/>
          <a:ln w="730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2158517" y="588625"/>
            <a:ext cx="48269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Graphics </a:t>
            </a:r>
            <a:r>
              <a:rPr lang="en-US" altLang="ko-KR" sz="4800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On&amp;Off</a:t>
            </a:r>
            <a:endParaRPr lang="ko-KR" altLang="en-US" sz="4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79816" y="1419622"/>
            <a:ext cx="2984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Project</a:t>
            </a:r>
            <a:endParaRPr lang="ko-KR" altLang="en-US" sz="4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184" y="3867894"/>
            <a:ext cx="1731963" cy="1335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1768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타원 7"/>
          <p:cNvSpPr/>
          <p:nvPr/>
        </p:nvSpPr>
        <p:spPr>
          <a:xfrm>
            <a:off x="-2484784" y="1534021"/>
            <a:ext cx="2016224" cy="2016224"/>
          </a:xfrm>
          <a:prstGeom prst="ellipse">
            <a:avLst/>
          </a:prstGeom>
          <a:noFill/>
          <a:ln w="730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311387" y="650181"/>
            <a:ext cx="184217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44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INDEX</a:t>
            </a:r>
            <a:endParaRPr lang="ko-KR" altLang="en-US" sz="440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277032" y="-1"/>
            <a:ext cx="5866968" cy="5145257"/>
          </a:xfrm>
          <a:prstGeom prst="rect">
            <a:avLst/>
          </a:prstGeom>
          <a:solidFill>
            <a:schemeClr val="tx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3667702" y="1133911"/>
            <a:ext cx="1996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itchFamily="50" charset="-127"/>
                <a:ea typeface="나눔바른고딕" pitchFamily="50" charset="-127"/>
              </a:rPr>
              <a:t>01</a:t>
            </a:r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프로젝트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67702" y="2041275"/>
            <a:ext cx="1758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itchFamily="50" charset="-127"/>
                <a:ea typeface="나눔바른고딕" pitchFamily="50" charset="-127"/>
              </a:rPr>
              <a:t>02</a:t>
            </a:r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캐릭터 소개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702" y="2976502"/>
            <a:ext cx="3010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itchFamily="50" charset="-127"/>
                <a:ea typeface="나눔바른고딕" pitchFamily="50" charset="-127"/>
              </a:rPr>
              <a:t>03</a:t>
            </a:r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프로젝트 주요 함수소개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7701" y="3791317"/>
            <a:ext cx="3010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itchFamily="50" charset="-127"/>
                <a:ea typeface="나눔바른고딕" pitchFamily="50" charset="-127"/>
              </a:rPr>
              <a:t>04</a:t>
            </a:r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프로젝트 키보드 조작법</a:t>
            </a: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452320" y="4156612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667702" y="4556035"/>
            <a:ext cx="2233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itchFamily="50" charset="-127"/>
                <a:ea typeface="나눔바른고딕" pitchFamily="50" charset="-127"/>
              </a:rPr>
              <a:t>05</a:t>
            </a:r>
            <a:r>
              <a:rPr lang="en-US" altLang="ko-KR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000" spc="-15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캐릭터 </a:t>
            </a:r>
            <a:r>
              <a:rPr lang="ko-KR" altLang="en-US" sz="2000" spc="-150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바른고딕" pitchFamily="50" charset="-127"/>
                <a:ea typeface="나눔바른고딕" pitchFamily="50" charset="-127"/>
              </a:rPr>
              <a:t>스크린샷</a:t>
            </a:r>
            <a:endParaRPr lang="ko-KR" altLang="en-US" sz="2000" spc="-150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10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3881690" y="4170066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827774" y="2232204"/>
            <a:ext cx="3488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ko-KR" altLang="en-US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목표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2466464" y="1979808"/>
            <a:ext cx="4211864" cy="1095998"/>
            <a:chOff x="2484560" y="1979808"/>
            <a:chExt cx="4211864" cy="1095998"/>
          </a:xfrm>
        </p:grpSpPr>
        <p:sp>
          <p:nvSpPr>
            <p:cNvPr id="21" name="직사각형 20"/>
            <p:cNvSpPr/>
            <p:nvPr/>
          </p:nvSpPr>
          <p:spPr>
            <a:xfrm>
              <a:off x="2484560" y="2069238"/>
              <a:ext cx="4175672" cy="1006568"/>
            </a:xfrm>
            <a:prstGeom prst="rect">
              <a:avLst/>
            </a:prstGeom>
            <a:noFill/>
            <a:ln w="9525">
              <a:solidFill>
                <a:srgbClr val="00FF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1266016">
              <a:off x="2517595" y="1979808"/>
              <a:ext cx="4175672" cy="1006568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9249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11560" y="318294"/>
            <a:ext cx="27142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576" y="1004123"/>
            <a:ext cx="76328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Graphics On &amp; Off 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수업시간에 배운 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Modeling, Mapping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과 같은 주요 개념들을 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Open GL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이라는 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Tool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Modeling 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함수들과 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Mesh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사용하여 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3D Virtual Human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사실적으로 구현해봄으로써 기초적인 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Computer Graphics</a:t>
            </a:r>
            <a:r>
              <a:rPr lang="ko-KR" altLang="en-US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경험해보는 것이다</a:t>
            </a:r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268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3881690" y="4170066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3048989" y="2232204"/>
            <a:ext cx="3046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캐릭터 소개</a:t>
            </a:r>
          </a:p>
        </p:txBody>
      </p:sp>
      <p:grpSp>
        <p:nvGrpSpPr>
          <p:cNvPr id="30" name="그룹 29"/>
          <p:cNvGrpSpPr/>
          <p:nvPr/>
        </p:nvGrpSpPr>
        <p:grpSpPr>
          <a:xfrm>
            <a:off x="2466464" y="1979808"/>
            <a:ext cx="4211864" cy="1095998"/>
            <a:chOff x="2484560" y="1979808"/>
            <a:chExt cx="4211864" cy="1095998"/>
          </a:xfrm>
        </p:grpSpPr>
        <p:sp>
          <p:nvSpPr>
            <p:cNvPr id="31" name="직사각형 30"/>
            <p:cNvSpPr/>
            <p:nvPr/>
          </p:nvSpPr>
          <p:spPr>
            <a:xfrm>
              <a:off x="2484560" y="2069238"/>
              <a:ext cx="4175672" cy="1006568"/>
            </a:xfrm>
            <a:prstGeom prst="rect">
              <a:avLst/>
            </a:prstGeom>
            <a:noFill/>
            <a:ln w="9525">
              <a:solidFill>
                <a:srgbClr val="00FF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 rot="21266016">
              <a:off x="2517595" y="1979808"/>
              <a:ext cx="4175672" cy="1006568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2358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11560" y="318294"/>
            <a:ext cx="23743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캐릭터 소개</a:t>
            </a:r>
          </a:p>
        </p:txBody>
      </p:sp>
      <p:pic>
        <p:nvPicPr>
          <p:cNvPr id="1026" name="Picture 2" descr="C:\Users\Choi\Desktop\untitle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059582"/>
            <a:ext cx="2371725" cy="192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983285" y="1190610"/>
            <a:ext cx="59444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Google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사용하는 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Android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라는 캐릭터로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사람처럼 머리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팔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다리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몸통을 가진 캐릭터다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</a:t>
            </a:r>
          </a:p>
          <a:p>
            <a:pPr algn="just"/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안드로이드의 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Basic Version, Ice cream sandwich Version, Jelly Bean Version, Lollipop Version 4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가지를 구현하였다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. </a:t>
            </a:r>
            <a:endParaRPr lang="ko-KR" altLang="en-US" sz="2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208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5719" y="18568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3881690" y="4170066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875593" y="2232204"/>
            <a:ext cx="5392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주요함수 소개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2466464" y="1979808"/>
            <a:ext cx="4211864" cy="1095998"/>
            <a:chOff x="2484560" y="1979808"/>
            <a:chExt cx="4211864" cy="1095998"/>
          </a:xfrm>
        </p:grpSpPr>
        <p:sp>
          <p:nvSpPr>
            <p:cNvPr id="21" name="직사각형 20"/>
            <p:cNvSpPr/>
            <p:nvPr/>
          </p:nvSpPr>
          <p:spPr>
            <a:xfrm>
              <a:off x="2484560" y="2069238"/>
              <a:ext cx="4175672" cy="1006568"/>
            </a:xfrm>
            <a:prstGeom prst="rect">
              <a:avLst/>
            </a:prstGeom>
            <a:noFill/>
            <a:ln w="9525">
              <a:solidFill>
                <a:srgbClr val="00FF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1266016">
              <a:off x="2517595" y="1979808"/>
              <a:ext cx="4175672" cy="1006568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5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11560" y="318294"/>
            <a:ext cx="7221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주요 함수 소개 </a:t>
            </a:r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in Visual Studio 2015</a:t>
            </a:r>
            <a:endParaRPr lang="ko-KR" altLang="en-US" sz="2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FF9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9552" y="771550"/>
            <a:ext cx="824531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glInit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오브젝트 구현 전 초기화 함수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MyDisplay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상태를 나타내주는 함수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(IDLE or RUN)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MyTimer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glutTimerFunc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를 사용함으로 시간의 변화에 따라 오브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          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젝트의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팔다리를 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rotate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하여 달리는 동작을 구현하게 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	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함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MyKeyboard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키보드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입력시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버전 및 상태 변화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Zoom, quit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구현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Mymotion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획득한 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Mouse Position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값으로 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rotate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angle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값을 구함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MyMouse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마우스 왼쪽 버튼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드래그시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Mouse Position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값 변화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Run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달리는 동작을 위한 함수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Idle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멈춰있는 상태의 함수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DrawGround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배경화면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바닥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을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맵핑하여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구현하는 함수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Draw_Android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오브젝트 구현 함수 종합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Gluint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Texture::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loadBMP_custom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텍스쳐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맵핑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구현을 위한 함수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1208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24136" y="32306"/>
            <a:ext cx="4275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주요 함수 소개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672" y="316042"/>
            <a:ext cx="817330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Draw_head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머리와 뿔을 구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실린더로 구현 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Draw_neck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목을 실린더로 구현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DrawR_foot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무릎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발을 구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실린더로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오른발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DrawR_leg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다리를 실린더로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오른다리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DrawL_foot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무릎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발을 구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실린더로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왼발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DrawL_leg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다리를 실린더로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왼다리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Draw_body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몸을 실린더로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[Jellybean, 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	     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Icecream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sandwich version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맵핑도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DrawR_arm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팔은 실린더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어깨는 구로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오른팔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DrawR_hand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손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팔꿈치를 구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아래팔은 실린더로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오른손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DrawL_arm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Android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의 팔은 실린더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어깨는 구로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왼팔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Void </a:t>
            </a:r>
            <a:r>
              <a:rPr lang="en-US" altLang="ko-KR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DrawL_hand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: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손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팔꿈치는 구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아래팔은 실린더로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왼손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[Lollipop version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에서의 사탕 객체 구현과 </a:t>
            </a:r>
            <a:r>
              <a:rPr lang="ko-KR" altLang="en-US" sz="2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맵핑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또한 구현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]</a:t>
            </a: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itchFamily="2" charset="2"/>
              </a:rPr>
              <a:t> 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itchFamily="2" charset="2"/>
              </a:rPr>
              <a:t>적절한 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itchFamily="2" charset="2"/>
              </a:rPr>
              <a:t>Rotate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itchFamily="2" charset="2"/>
              </a:rPr>
              <a:t> </a:t>
            </a:r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itchFamily="2" charset="2"/>
              </a:rPr>
              <a:t>Translate</a:t>
            </a:r>
            <a:r>
              <a:rPr lang="ko-KR" altLang="en-US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itchFamily="2" charset="2"/>
              </a:rPr>
              <a:t>를 통해 적합한 위치로 각 객체 위치시킴 </a:t>
            </a:r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endParaRPr lang="en-US" altLang="ko-KR" sz="200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FFFF00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algn="just"/>
            <a:r>
              <a:rPr lang="en-US" altLang="ko-KR" sz="2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FF00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483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3881690" y="4170066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1942923" y="2232204"/>
            <a:ext cx="52581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</a:t>
            </a:r>
            <a:r>
              <a:rPr lang="ko-KR" altLang="en-US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키보드 조작법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2466464" y="1979808"/>
            <a:ext cx="4211864" cy="1095998"/>
            <a:chOff x="2484560" y="1979808"/>
            <a:chExt cx="4211864" cy="1095998"/>
          </a:xfrm>
        </p:grpSpPr>
        <p:sp>
          <p:nvSpPr>
            <p:cNvPr id="21" name="직사각형 20"/>
            <p:cNvSpPr/>
            <p:nvPr/>
          </p:nvSpPr>
          <p:spPr>
            <a:xfrm>
              <a:off x="2484560" y="2069238"/>
              <a:ext cx="4175672" cy="1006568"/>
            </a:xfrm>
            <a:prstGeom prst="rect">
              <a:avLst/>
            </a:prstGeom>
            <a:noFill/>
            <a:ln w="9525">
              <a:solidFill>
                <a:srgbClr val="00FF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1266016">
              <a:off x="2517595" y="1979808"/>
              <a:ext cx="4175672" cy="1006568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593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11560" y="318294"/>
            <a:ext cx="41745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프로젝트 키보드 조작법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900" y="850741"/>
            <a:ext cx="794590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'1' = Normal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'2' = Ice cream sandwich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'3' = Lollipop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'4' = Jellybean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',' = Idle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'.' = Run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Esc, 'q' = Quit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'a' = Zoom In</a:t>
            </a:r>
          </a:p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'z' = Zoom out</a:t>
            </a:r>
            <a:endParaRPr lang="ko-KR" altLang="en-US" sz="2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208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3881690" y="4170066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TextBox 18"/>
          <p:cNvSpPr txBox="1"/>
          <p:nvPr/>
        </p:nvSpPr>
        <p:spPr>
          <a:xfrm>
            <a:off x="2606566" y="2232204"/>
            <a:ext cx="3930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36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캐릭터 </a:t>
            </a:r>
            <a:r>
              <a:rPr lang="ko-KR" altLang="en-US" sz="3600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스크린샷</a:t>
            </a:r>
            <a:endParaRPr lang="ko-KR" altLang="en-US" sz="36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0" name="그룹 19"/>
          <p:cNvGrpSpPr/>
          <p:nvPr/>
        </p:nvGrpSpPr>
        <p:grpSpPr>
          <a:xfrm>
            <a:off x="2466464" y="1979808"/>
            <a:ext cx="4211864" cy="1095998"/>
            <a:chOff x="2484560" y="1979808"/>
            <a:chExt cx="4211864" cy="1095998"/>
          </a:xfrm>
        </p:grpSpPr>
        <p:sp>
          <p:nvSpPr>
            <p:cNvPr id="21" name="직사각형 20"/>
            <p:cNvSpPr/>
            <p:nvPr/>
          </p:nvSpPr>
          <p:spPr>
            <a:xfrm>
              <a:off x="2484560" y="2069238"/>
              <a:ext cx="4175672" cy="1006568"/>
            </a:xfrm>
            <a:prstGeom prst="rect">
              <a:avLst/>
            </a:prstGeom>
            <a:noFill/>
            <a:ln w="9525">
              <a:solidFill>
                <a:srgbClr val="00FF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 rot="21266016">
              <a:off x="2517595" y="1979808"/>
              <a:ext cx="4175672" cy="1006568"/>
            </a:xfrm>
            <a:prstGeom prst="rect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593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7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5536" y="313066"/>
            <a:ext cx="3054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캐릭터 </a:t>
            </a:r>
            <a:r>
              <a:rPr lang="ko-KR" altLang="en-US" sz="2800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스크린샷</a:t>
            </a:r>
            <a:endParaRPr lang="ko-KR" altLang="en-US" sz="2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FF9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932040" y="769679"/>
            <a:ext cx="29843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Jelly Bean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31640" y="750947"/>
            <a:ext cx="29843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Basic Android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1026" name="Picture 2" descr="C:\Users\Choi\Desktop\cg project\프로젝트\normal_ex.jpg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80" y="1487507"/>
            <a:ext cx="3625200" cy="25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Choi\Desktop\cg project\프로젝트\jellybean_ex.jpg"/>
          <p:cNvPicPr preferRelativeResize="0">
            <a:picLocks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1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1486800"/>
            <a:ext cx="3625200" cy="25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208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7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4531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5536" y="313066"/>
            <a:ext cx="3054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캐릭터 </a:t>
            </a:r>
            <a:r>
              <a:rPr lang="ko-KR" altLang="en-US" sz="2800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스크린샷</a:t>
            </a:r>
            <a:endParaRPr lang="ko-KR" altLang="en-US" sz="2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FF9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75696" y="811119"/>
            <a:ext cx="29843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Lollipop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354" y="750947"/>
            <a:ext cx="37770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Ice Cream Sandwich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2050" name="Picture 2" descr="C:\Users\Choi\Desktop\cg project\프로젝트\icecream_sandwich_ex.jpg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00" y="1486800"/>
            <a:ext cx="3625200" cy="25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Choi\Desktop\cg project\프로젝트\lollipop_ex.jpg"/>
          <p:cNvPicPr preferRelativeResize="0">
            <a:picLocks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200" y="1486800"/>
            <a:ext cx="3625200" cy="25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25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7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5536" y="313066"/>
            <a:ext cx="3054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캐릭터 </a:t>
            </a:r>
            <a:r>
              <a:rPr lang="ko-KR" altLang="en-US" sz="2800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스크린샷</a:t>
            </a:r>
            <a:endParaRPr lang="ko-KR" altLang="en-US" sz="2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FF9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87624" y="722939"/>
            <a:ext cx="29843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Zoom in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50668" y="722939"/>
            <a:ext cx="29843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Zoom out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3074" name="Picture 2" descr="C:\Users\Choi\Desktop\cg project\프로젝트\z_in_ex.jpg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200" y="1486800"/>
            <a:ext cx="3625200" cy="25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Choi\Desktop\cg project\프로젝트\z_out_ex.jpg"/>
          <p:cNvPicPr preferRelativeResize="0">
            <a:picLocks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3200" y="1486800"/>
            <a:ext cx="3625200" cy="25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25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7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0" y="-213"/>
            <a:ext cx="9144793" cy="5145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4" t="8254" r="8254" b="8254"/>
          <a:stretch/>
        </p:blipFill>
        <p:spPr bwMode="auto">
          <a:xfrm>
            <a:off x="7501864" y="4166494"/>
            <a:ext cx="1381412" cy="1024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그룹 2"/>
          <p:cNvGrpSpPr/>
          <p:nvPr/>
        </p:nvGrpSpPr>
        <p:grpSpPr>
          <a:xfrm>
            <a:off x="249892" y="-92547"/>
            <a:ext cx="8647949" cy="5244582"/>
            <a:chOff x="2484560" y="1979669"/>
            <a:chExt cx="4215657" cy="1078715"/>
          </a:xfrm>
        </p:grpSpPr>
        <p:sp>
          <p:nvSpPr>
            <p:cNvPr id="12" name="직사각형 11"/>
            <p:cNvSpPr/>
            <p:nvPr/>
          </p:nvSpPr>
          <p:spPr>
            <a:xfrm rot="21435837">
              <a:off x="2484560" y="2043279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 rot="21266016">
              <a:off x="2524545" y="1979669"/>
              <a:ext cx="4175672" cy="1065443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 rot="298886">
              <a:off x="2520752" y="2051816"/>
              <a:ext cx="4175672" cy="1006568"/>
            </a:xfrm>
            <a:prstGeom prst="rect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95536" y="313066"/>
            <a:ext cx="3054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5. </a:t>
            </a:r>
            <a:r>
              <a:rPr lang="ko-KR" altLang="en-US" sz="28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캐릭터 </a:t>
            </a:r>
            <a:r>
              <a:rPr lang="ko-KR" altLang="en-US" sz="2800" spc="-15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FF9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스크린샷</a:t>
            </a:r>
            <a:endParaRPr lang="ko-KR" altLang="en-US" sz="28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00FF9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80214" y="714117"/>
            <a:ext cx="298436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spc="-15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Running Motion</a:t>
            </a:r>
            <a:endParaRPr lang="ko-KR" altLang="en-US" sz="3000" spc="-15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pic>
        <p:nvPicPr>
          <p:cNvPr id="4098" name="Picture 2" descr="C:\Users\Choi\Desktop\cg project\프로젝트\run_ex.jpg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600" y="1270800"/>
            <a:ext cx="3625200" cy="25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25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6" b="7796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39000">
                <a:schemeClr val="tx1">
                  <a:alpha val="77000"/>
                </a:schemeClr>
              </a:gs>
              <a:gs pos="71000">
                <a:schemeClr val="tx1">
                  <a:alpha val="52000"/>
                </a:schemeClr>
              </a:gs>
              <a:gs pos="94000">
                <a:schemeClr val="tx1"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/>
          <p:cNvSpPr/>
          <p:nvPr/>
        </p:nvSpPr>
        <p:spPr>
          <a:xfrm>
            <a:off x="-2412776" y="1419622"/>
            <a:ext cx="2016224" cy="2016224"/>
          </a:xfrm>
          <a:prstGeom prst="ellipse">
            <a:avLst/>
          </a:prstGeom>
          <a:noFill/>
          <a:ln w="730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089" y="3405366"/>
            <a:ext cx="2376602" cy="179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067694"/>
            <a:ext cx="3657600" cy="1176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2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535</Words>
  <Application>Microsoft Office PowerPoint</Application>
  <PresentationFormat>화면 슬라이드 쇼(16:9)</PresentationFormat>
  <Paragraphs>71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나눔바른고딕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JIHOON Lee</dc:creator>
  <cp:lastModifiedBy>정진 이</cp:lastModifiedBy>
  <cp:revision>39</cp:revision>
  <dcterms:created xsi:type="dcterms:W3CDTF">2015-04-20T04:31:31Z</dcterms:created>
  <dcterms:modified xsi:type="dcterms:W3CDTF">2025-03-10T13:44:04Z</dcterms:modified>
</cp:coreProperties>
</file>