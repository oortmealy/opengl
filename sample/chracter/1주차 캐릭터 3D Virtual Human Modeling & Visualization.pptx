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5" r:id="rId5"/>
    <p:sldId id="261" r:id="rId6"/>
    <p:sldId id="266" r:id="rId7"/>
    <p:sldId id="262" r:id="rId8"/>
    <p:sldId id="268" r:id="rId9"/>
    <p:sldId id="269" r:id="rId10"/>
    <p:sldId id="270" r:id="rId11"/>
    <p:sldId id="263" r:id="rId12"/>
    <p:sldId id="271" r:id="rId13"/>
    <p:sldId id="272" r:id="rId14"/>
    <p:sldId id="273" r:id="rId15"/>
    <p:sldId id="274" r:id="rId16"/>
    <p:sldId id="264" r:id="rId17"/>
    <p:sldId id="267" r:id="rId1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4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23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13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769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45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28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38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869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833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93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84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DC278-B712-4821-BB23-ED6871810DE5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C1F53-3A9E-4203-A96B-5FC31F42D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50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D06232D8-72AD-4BCA-86B5-90E36CA4A187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FC6ED86D-1D43-4E70-A9E4-BC28D96917AA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6868" y="1868080"/>
            <a:ext cx="6813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Computer Graphics</a:t>
            </a:r>
            <a:endParaRPr lang="ko-KR" altLang="en-US" sz="60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1" name="Rectangle 3"/>
          <p:cNvSpPr>
            <a:spLocks noChangeAspect="1"/>
          </p:cNvSpPr>
          <p:nvPr/>
        </p:nvSpPr>
        <p:spPr>
          <a:xfrm rot="180000">
            <a:off x="44921" y="140098"/>
            <a:ext cx="9053628" cy="6606601"/>
          </a:xfrm>
          <a:prstGeom prst="rect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4"/>
          <p:cNvSpPr/>
          <p:nvPr/>
        </p:nvSpPr>
        <p:spPr>
          <a:xfrm rot="-120000">
            <a:off x="175858" y="197855"/>
            <a:ext cx="8782240" cy="6480000"/>
          </a:xfrm>
          <a:prstGeom prst="rect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603320" y="3468416"/>
            <a:ext cx="18133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이정진 교수님</a:t>
            </a:r>
            <a:endParaRPr lang="en-US" altLang="ko-KR" sz="2000" b="1" dirty="0">
              <a:solidFill>
                <a:schemeClr val="accent1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sz="2400" b="1" dirty="0">
              <a:solidFill>
                <a:schemeClr val="accent1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74111" y="2883743"/>
            <a:ext cx="5871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DX시인과나"/>
              </a:rPr>
              <a:t>3D Virtual </a:t>
            </a:r>
            <a:r>
              <a:rPr lang="en-US" altLang="ko-KR" sz="2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DX시인과나"/>
              </a:rPr>
              <a:t>Human</a:t>
            </a:r>
            <a:r>
              <a:rPr lang="en-US" altLang="ko-KR" sz="2400" b="1" dirty="0">
                <a:solidFill>
                  <a:schemeClr val="accent4">
                    <a:lumMod val="20000"/>
                    <a:lumOff val="80000"/>
                  </a:schemeClr>
                </a:solidFill>
                <a:ea typeface="DX시인과나"/>
              </a:rPr>
              <a:t> Modeling &amp; Visualization</a:t>
            </a:r>
            <a:endParaRPr lang="ko-KR" altLang="en-US" sz="2400" b="1" dirty="0">
              <a:solidFill>
                <a:schemeClr val="accent4">
                  <a:lumMod val="20000"/>
                  <a:lumOff val="80000"/>
                </a:schemeClr>
              </a:solidFill>
              <a:latin typeface="DX시인과나" panose="02020600000000000000" pitchFamily="18" charset="-127"/>
              <a:ea typeface="DX시인과나"/>
            </a:endParaRPr>
          </a:p>
        </p:txBody>
      </p:sp>
    </p:spTree>
    <p:extLst>
      <p:ext uri="{BB962C8B-B14F-4D97-AF65-F5344CB8AC3E}">
        <p14:creationId xmlns:p14="http://schemas.microsoft.com/office/powerpoint/2010/main" val="1500576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2859" y="1543050"/>
            <a:ext cx="2443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CONTENTS</a:t>
            </a:r>
            <a:endParaRPr lang="ko-KR" altLang="en-US" sz="3600" b="1" dirty="0">
              <a:solidFill>
                <a:schemeClr val="accent4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Rectangle 4"/>
          <p:cNvSpPr/>
          <p:nvPr/>
        </p:nvSpPr>
        <p:spPr>
          <a:xfrm rot="21204688">
            <a:off x="4255246" y="599457"/>
            <a:ext cx="4176839" cy="5742809"/>
          </a:xfrm>
          <a:prstGeom prst="rect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8"/>
          <p:cNvSpPr/>
          <p:nvPr/>
        </p:nvSpPr>
        <p:spPr>
          <a:xfrm>
            <a:off x="4270645" y="643323"/>
            <a:ext cx="4176839" cy="5742809"/>
          </a:xfrm>
          <a:prstGeom prst="rect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192509" y="1038547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PART I.</a:t>
            </a:r>
            <a:endParaRPr lang="ko-KR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23066" y="1943710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PART II.</a:t>
            </a:r>
            <a:endParaRPr lang="ko-KR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67795" y="125049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0709" y="2154585"/>
            <a:ext cx="2658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Modeling</a:t>
            </a:r>
            <a:r>
              <a:rPr lang="ko-KR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856" y="302389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PART III.</a:t>
            </a:r>
            <a:endParaRPr lang="ko-KR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05856" y="3222414"/>
            <a:ext cx="2285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Texture</a:t>
            </a:r>
            <a:r>
              <a:rPr lang="ko-KR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구현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5466" y="4110301"/>
            <a:ext cx="1106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PART IV.</a:t>
            </a:r>
            <a:endParaRPr lang="ko-KR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5466" y="4333533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기능 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8941" y="5189476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PART V.</a:t>
            </a:r>
            <a:endParaRPr lang="ko-KR" altLang="en-US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8941" y="540035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결론</a:t>
            </a:r>
          </a:p>
        </p:txBody>
      </p:sp>
      <p:pic>
        <p:nvPicPr>
          <p:cNvPr id="24" name="Picture 2" descr="C:\Users\Administrator\Desktop\stock-illustration-51496560-light-bulb-vector-icon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84" y="1656854"/>
            <a:ext cx="2064166" cy="206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220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 rot="5004688">
            <a:off x="3172929" y="561124"/>
            <a:ext cx="2955192" cy="53408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6"/>
          <p:cNvSpPr/>
          <p:nvPr/>
        </p:nvSpPr>
        <p:spPr>
          <a:xfrm rot="5400000">
            <a:off x="3259740" y="624018"/>
            <a:ext cx="2955192" cy="53408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718745" y="2785665"/>
            <a:ext cx="1383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PART I.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84979" y="312353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목표</a:t>
            </a:r>
          </a:p>
        </p:txBody>
      </p:sp>
      <p:pic>
        <p:nvPicPr>
          <p:cNvPr id="11" name="Picture 2" descr="C:\Users\Administrator\Desktop\stock-illustration-51496560-light-bulb-vector-icon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754" y="2249990"/>
            <a:ext cx="2064166" cy="206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46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1848" y="1636502"/>
            <a:ext cx="1452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GOAL I.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863" y="2058139"/>
            <a:ext cx="82588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OpenGL primitive</a:t>
            </a:r>
            <a:r>
              <a:rPr lang="ko-KR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모델링 함수들과 간단히</a:t>
            </a:r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모델링 가능한 </a:t>
            </a:r>
            <a:endParaRPr lang="en-US" altLang="ko-KR" sz="20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Mesh</a:t>
            </a:r>
            <a:r>
              <a:rPr lang="ko-KR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를 사용하여</a:t>
            </a:r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3D Virtual Human</a:t>
            </a:r>
            <a:r>
              <a:rPr lang="ko-KR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을 가능한 사실적으로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 modeling</a:t>
            </a:r>
            <a:endParaRPr lang="ko-KR" altLang="en-US" sz="2200" b="1" dirty="0"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3607" y="2888675"/>
            <a:ext cx="1560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GOAL II.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1622" y="3310312"/>
            <a:ext cx="7519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texture mapping </a:t>
            </a:r>
            <a:r>
              <a:rPr lang="ko-KR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등의 기법으로 가능한 실감나게 </a:t>
            </a:r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visualization</a:t>
            </a:r>
            <a:endParaRPr lang="ko-KR" altLang="en-US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0080" y="3906065"/>
            <a:ext cx="1560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GOAL II.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095" y="4327702"/>
            <a:ext cx="6120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마우스 </a:t>
            </a:r>
            <a:r>
              <a:rPr lang="ko-KR" altLang="ko-KR" sz="2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드래깅을</a:t>
            </a:r>
            <a:r>
              <a:rPr lang="ko-KR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이용한 물체의</a:t>
            </a:r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3D rotation</a:t>
            </a:r>
            <a:r>
              <a:rPr lang="ko-KR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과</a:t>
            </a:r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</a:t>
            </a:r>
          </a:p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zoom-in (‘a’ key), zoom-out (‘z’ key)</a:t>
            </a:r>
            <a:r>
              <a:rPr lang="ko-KR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도 함께 구현</a:t>
            </a:r>
            <a:endParaRPr lang="ko-KR" altLang="en-US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11823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 rot="5004688">
            <a:off x="3172929" y="561124"/>
            <a:ext cx="2955192" cy="53408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6"/>
          <p:cNvSpPr/>
          <p:nvPr/>
        </p:nvSpPr>
        <p:spPr>
          <a:xfrm rot="5400000">
            <a:off x="3259740" y="624018"/>
            <a:ext cx="2955192" cy="53408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718745" y="2785665"/>
            <a:ext cx="1491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PART II.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84979" y="3123530"/>
            <a:ext cx="3365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</a:rPr>
              <a:t>Modeling</a:t>
            </a:r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</a:rPr>
              <a:t> 구현</a:t>
            </a:r>
          </a:p>
        </p:txBody>
      </p:sp>
      <p:pic>
        <p:nvPicPr>
          <p:cNvPr id="9" name="Picture 2" descr="C:\Users\Administrator\Desktop\stock-illustration-51496560-light-bulb-vector-icon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754" y="2200562"/>
            <a:ext cx="2064166" cy="206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8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9744" y="709965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drawSphere</a:t>
            </a:r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()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0688" y="1131602"/>
            <a:ext cx="3514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차원 구를 모델링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하는 함수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얼굴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해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손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발목 등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</a:t>
            </a:r>
            <a:endParaRPr lang="ko-KR" altLang="en-US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34058" y="658677"/>
            <a:ext cx="3169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drawHalfSphere</a:t>
            </a:r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()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37359" y="1080314"/>
            <a:ext cx="37705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차원 반구를 모델링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하는 함수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머리카락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어깨 등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02682" y="3512644"/>
            <a:ext cx="2127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drawCube</a:t>
            </a:r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()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89855" y="3943715"/>
            <a:ext cx="42835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차원 정육면체를 모델링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하는 함수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신발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입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볼터치</a:t>
            </a:r>
            <a:r>
              <a:rPr lang="ko-KR" altLang="en-US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 등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8331" y="4896291"/>
            <a:ext cx="2646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drawCylinder()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346" y="5317928"/>
            <a:ext cx="4027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차원 원기둥을 </a:t>
            </a:r>
            <a:r>
              <a:rPr lang="ko-KR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모델링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하는 함수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바지</a:t>
            </a:r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안경 등</a:t>
            </a:r>
            <a:r>
              <a:rPr lang="en-US" altLang="ko-KR" sz="20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6597" y="3540991"/>
            <a:ext cx="2892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drawRectangle()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7541" y="3962628"/>
            <a:ext cx="4027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2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차원 사각형를 </a:t>
            </a:r>
            <a:r>
              <a:rPr lang="ko-KR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모델링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하는 함수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바닥</a:t>
            </a:r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75933" y="4896291"/>
            <a:ext cx="2098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drawCone()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03948" y="5317928"/>
            <a:ext cx="3514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차원 원뿔 </a:t>
            </a:r>
            <a:r>
              <a:rPr lang="ko-KR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모델링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하는 함수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묶음머리</a:t>
            </a:r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3052" y="2136354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drawTorus()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6353" y="2557991"/>
            <a:ext cx="3514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차원 링을 </a:t>
            </a:r>
            <a:r>
              <a:rPr lang="ko-KR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모델링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하는 함수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상의</a:t>
            </a:r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안경 등</a:t>
            </a:r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00647" y="2178772"/>
            <a:ext cx="2856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drawHalfTorus()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03948" y="2600409"/>
            <a:ext cx="37705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차원 반링를 </a:t>
            </a:r>
            <a:r>
              <a:rPr lang="ko-KR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모델링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하는 함수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웃는 눈</a:t>
            </a:r>
            <a:r>
              <a: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1976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 rot="5004688">
            <a:off x="3172929" y="561124"/>
            <a:ext cx="2955192" cy="53408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6"/>
          <p:cNvSpPr/>
          <p:nvPr/>
        </p:nvSpPr>
        <p:spPr>
          <a:xfrm rot="5400000">
            <a:off x="3259740" y="624018"/>
            <a:ext cx="2955192" cy="53408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718745" y="2785665"/>
            <a:ext cx="1598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PART III.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84979" y="3123530"/>
            <a:ext cx="288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</a:rPr>
              <a:t>Texture</a:t>
            </a:r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</a:rPr>
              <a:t> 구현</a:t>
            </a:r>
          </a:p>
        </p:txBody>
      </p:sp>
      <p:pic>
        <p:nvPicPr>
          <p:cNvPr id="9" name="Picture 2" descr="C:\Users\Administrator\Desktop\stock-illustration-51496560-light-bulb-vector-icon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754" y="2212919"/>
            <a:ext cx="2064166" cy="206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04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441403" y="619666"/>
            <a:ext cx="5590261" cy="2433345"/>
            <a:chOff x="413237" y="388683"/>
            <a:chExt cx="5590261" cy="2433345"/>
          </a:xfrm>
        </p:grpSpPr>
        <p:sp>
          <p:nvSpPr>
            <p:cNvPr id="10" name="TextBox 9"/>
            <p:cNvSpPr txBox="1"/>
            <p:nvPr/>
          </p:nvSpPr>
          <p:spPr>
            <a:xfrm>
              <a:off x="436174" y="388683"/>
              <a:ext cx="20393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erlin Sans FB Demi" panose="020E0802020502020306" pitchFamily="34" charset="0"/>
                </a:rPr>
                <a:t>drawfloor()</a:t>
              </a:r>
              <a:endParaRPr lang="ko-KR" alt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27118" y="810320"/>
              <a:ext cx="24160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</a:rPr>
                <a:t>바닥을 그리는 함수</a:t>
              </a:r>
              <a:endPara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027" name="Picture 3" descr="C:\Users\Naver.AD011\Desktop\OpenGL\OpenGL\glassColor.bmp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085" y="1250760"/>
              <a:ext cx="1171158" cy="1171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C:\Users\Naver.AD011\Desktop\캡처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2211" y="420553"/>
              <a:ext cx="2431287" cy="2001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/>
            <p:cNvSpPr txBox="1"/>
            <p:nvPr/>
          </p:nvSpPr>
          <p:spPr>
            <a:xfrm>
              <a:off x="413237" y="2421918"/>
              <a:ext cx="16841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사용 </a:t>
              </a:r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Texture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495159" y="2401320"/>
              <a:ext cx="19030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실제 구현 내용</a:t>
              </a:r>
              <a:endPara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2999918" y="3605177"/>
            <a:ext cx="5548685" cy="2433345"/>
            <a:chOff x="413237" y="388683"/>
            <a:chExt cx="5548685" cy="2433345"/>
          </a:xfrm>
        </p:grpSpPr>
        <p:sp>
          <p:nvSpPr>
            <p:cNvPr id="21" name="TextBox 20"/>
            <p:cNvSpPr txBox="1"/>
            <p:nvPr/>
          </p:nvSpPr>
          <p:spPr>
            <a:xfrm>
              <a:off x="436174" y="388683"/>
              <a:ext cx="18646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erlin Sans FB Demi" panose="020E0802020502020306" pitchFamily="34" charset="0"/>
                </a:rPr>
                <a:t>drawSun()</a:t>
              </a:r>
              <a:endParaRPr lang="ko-KR" alt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27118" y="810320"/>
              <a:ext cx="21595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</a:rPr>
                <a:t>해를 그리는 함수</a:t>
              </a:r>
              <a:endPara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23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0085" y="1254106"/>
              <a:ext cx="1171158" cy="1164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613787" y="420553"/>
              <a:ext cx="2348135" cy="2001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/>
            <p:cNvSpPr txBox="1"/>
            <p:nvPr/>
          </p:nvSpPr>
          <p:spPr>
            <a:xfrm>
              <a:off x="413237" y="2421918"/>
              <a:ext cx="16841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사용 </a:t>
              </a:r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Texture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495159" y="2401320"/>
              <a:ext cx="19030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실제 구현 내용</a:t>
              </a:r>
              <a:endPara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266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441403" y="619666"/>
            <a:ext cx="5572514" cy="2433345"/>
            <a:chOff x="413237" y="388683"/>
            <a:chExt cx="5572514" cy="2433345"/>
          </a:xfrm>
        </p:grpSpPr>
        <p:sp>
          <p:nvSpPr>
            <p:cNvPr id="10" name="TextBox 9"/>
            <p:cNvSpPr txBox="1"/>
            <p:nvPr/>
          </p:nvSpPr>
          <p:spPr>
            <a:xfrm>
              <a:off x="436174" y="388683"/>
              <a:ext cx="20168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erlin Sans FB Demi" panose="020E0802020502020306" pitchFamily="34" charset="0"/>
                </a:rPr>
                <a:t>drawHair()</a:t>
              </a:r>
              <a:endParaRPr lang="ko-KR" alt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27118" y="810320"/>
              <a:ext cx="29290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</a:rPr>
                <a:t>머리카락을 그리는 함수</a:t>
              </a:r>
              <a:endPara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0085" y="1250760"/>
              <a:ext cx="1171158" cy="1171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589957" y="420553"/>
              <a:ext cx="2395794" cy="2001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/>
            <p:cNvSpPr txBox="1"/>
            <p:nvPr/>
          </p:nvSpPr>
          <p:spPr>
            <a:xfrm>
              <a:off x="413237" y="2421918"/>
              <a:ext cx="16841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사용 </a:t>
              </a:r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Texture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495159" y="2401320"/>
              <a:ext cx="19030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실제 구현 내용</a:t>
              </a:r>
              <a:endPara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2999918" y="3605177"/>
            <a:ext cx="5485641" cy="2433345"/>
            <a:chOff x="413237" y="388683"/>
            <a:chExt cx="5485641" cy="2433345"/>
          </a:xfrm>
        </p:grpSpPr>
        <p:sp>
          <p:nvSpPr>
            <p:cNvPr id="21" name="TextBox 20"/>
            <p:cNvSpPr txBox="1"/>
            <p:nvPr/>
          </p:nvSpPr>
          <p:spPr>
            <a:xfrm>
              <a:off x="436174" y="388683"/>
              <a:ext cx="22573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erlin Sans FB Demi" panose="020E0802020502020306" pitchFamily="34" charset="0"/>
                </a:rPr>
                <a:t>drawTrunk()</a:t>
              </a:r>
              <a:endParaRPr lang="ko-KR" alt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27118" y="810320"/>
              <a:ext cx="24160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</a:rPr>
                <a:t>상의를 그리는 함수</a:t>
              </a:r>
              <a:endPara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23" name="Picture 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86362" y="1254106"/>
              <a:ext cx="1058604" cy="1164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676831" y="420553"/>
              <a:ext cx="2222047" cy="2001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/>
            <p:cNvSpPr txBox="1"/>
            <p:nvPr/>
          </p:nvSpPr>
          <p:spPr>
            <a:xfrm>
              <a:off x="413237" y="2421918"/>
              <a:ext cx="16841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사용 </a:t>
              </a:r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Texture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495159" y="2401320"/>
              <a:ext cx="19030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실제 구현 내용</a:t>
              </a:r>
              <a:endPara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7806" y="4526877"/>
            <a:ext cx="1058604" cy="1058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3012700" y="5952025"/>
            <a:ext cx="57552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Tours</a:t>
            </a:r>
            <a:r>
              <a:rPr lang="ko-KR" altLang="en-US" sz="2000" b="1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를 여러 개 겹쳐 좀 더 유연한 선의 상체를 </a:t>
            </a:r>
            <a:endParaRPr lang="en-US" altLang="ko-KR" sz="2000" b="1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pPr algn="r"/>
            <a:r>
              <a:rPr lang="ko-KR" altLang="en-US" sz="2000" b="1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표현하고자 하였습니다</a:t>
            </a:r>
            <a:r>
              <a:rPr lang="en-US" altLang="ko-KR" sz="2000" b="1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.</a:t>
            </a:r>
          </a:p>
        </p:txBody>
      </p:sp>
      <p:cxnSp>
        <p:nvCxnSpPr>
          <p:cNvPr id="5" name="직선 화살표 연결선 4"/>
          <p:cNvCxnSpPr>
            <a:stCxn id="27" idx="3"/>
          </p:cNvCxnSpPr>
          <p:nvPr/>
        </p:nvCxnSpPr>
        <p:spPr>
          <a:xfrm flipV="1">
            <a:off x="5426410" y="4026814"/>
            <a:ext cx="1606972" cy="102936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23" idx="3"/>
          </p:cNvCxnSpPr>
          <p:nvPr/>
        </p:nvCxnSpPr>
        <p:spPr>
          <a:xfrm flipV="1">
            <a:off x="4231647" y="4526877"/>
            <a:ext cx="3305975" cy="525956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374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441403" y="619666"/>
            <a:ext cx="5575436" cy="2433345"/>
            <a:chOff x="413237" y="388683"/>
            <a:chExt cx="5575436" cy="2433345"/>
          </a:xfrm>
        </p:grpSpPr>
        <p:sp>
          <p:nvSpPr>
            <p:cNvPr id="10" name="TextBox 9"/>
            <p:cNvSpPr txBox="1"/>
            <p:nvPr/>
          </p:nvSpPr>
          <p:spPr>
            <a:xfrm>
              <a:off x="436174" y="388683"/>
              <a:ext cx="22156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erlin Sans FB Demi" panose="020E0802020502020306" pitchFamily="34" charset="0"/>
                </a:rPr>
                <a:t>drawPants()</a:t>
              </a:r>
              <a:endParaRPr lang="ko-KR" alt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27118" y="810320"/>
              <a:ext cx="24160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</a:rPr>
                <a:t>바지를 그리는 함수</a:t>
              </a:r>
              <a:endPara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0085" y="1250760"/>
              <a:ext cx="1171158" cy="11711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587035" y="420553"/>
              <a:ext cx="2401638" cy="2001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/>
            <p:cNvSpPr txBox="1"/>
            <p:nvPr/>
          </p:nvSpPr>
          <p:spPr>
            <a:xfrm>
              <a:off x="413237" y="2421918"/>
              <a:ext cx="16841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사용 </a:t>
              </a:r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Texture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495159" y="2401320"/>
              <a:ext cx="19030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실제 구현 내용</a:t>
              </a:r>
              <a:endPara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2999918" y="3605177"/>
            <a:ext cx="5468190" cy="2433345"/>
            <a:chOff x="413237" y="388683"/>
            <a:chExt cx="5468190" cy="2433345"/>
          </a:xfrm>
        </p:grpSpPr>
        <p:sp>
          <p:nvSpPr>
            <p:cNvPr id="21" name="TextBox 20"/>
            <p:cNvSpPr txBox="1"/>
            <p:nvPr/>
          </p:nvSpPr>
          <p:spPr>
            <a:xfrm>
              <a:off x="436174" y="388683"/>
              <a:ext cx="20233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erlin Sans FB Demi" panose="020E0802020502020306" pitchFamily="34" charset="0"/>
                </a:rPr>
                <a:t>drawShoe()</a:t>
              </a:r>
              <a:endParaRPr lang="ko-KR" alt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27118" y="810320"/>
              <a:ext cx="24160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</a:rPr>
                <a:t>신발을 그리는 함수</a:t>
              </a:r>
              <a:endPara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23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04677" y="1254106"/>
              <a:ext cx="821974" cy="1164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694281" y="420553"/>
              <a:ext cx="2187146" cy="2001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/>
            <p:cNvSpPr txBox="1"/>
            <p:nvPr/>
          </p:nvSpPr>
          <p:spPr>
            <a:xfrm>
              <a:off x="413237" y="2421918"/>
              <a:ext cx="16841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사용 </a:t>
              </a:r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Texture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495159" y="2401320"/>
              <a:ext cx="19030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실제 구현 내용</a:t>
              </a:r>
              <a:endParaRPr lang="en-US" altLang="ko-KR" sz="2000" b="1"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6414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 rot="5004688">
            <a:off x="3172929" y="561124"/>
            <a:ext cx="2955192" cy="53408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6"/>
          <p:cNvSpPr/>
          <p:nvPr/>
        </p:nvSpPr>
        <p:spPr>
          <a:xfrm rot="5400000">
            <a:off x="3259740" y="624018"/>
            <a:ext cx="2955192" cy="53408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718745" y="2785665"/>
            <a:ext cx="1617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PART IV.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84979" y="3123530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</a:rPr>
              <a:t>기능 구현</a:t>
            </a:r>
          </a:p>
        </p:txBody>
      </p:sp>
      <p:pic>
        <p:nvPicPr>
          <p:cNvPr id="9" name="Picture 2" descr="C:\Users\Administrator\Desktop\stock-illustration-51496560-light-bulb-vector-icon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754" y="2175848"/>
            <a:ext cx="2064166" cy="206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687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396800" y="458510"/>
            <a:ext cx="8154076" cy="6021728"/>
            <a:chOff x="396800" y="458510"/>
            <a:chExt cx="8154076" cy="6021728"/>
          </a:xfrm>
        </p:grpSpPr>
        <p:pic>
          <p:nvPicPr>
            <p:cNvPr id="2050" name="Picture 2" descr="C:\Users\Naver.AD011\Desktop\캡처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179" y="2176847"/>
              <a:ext cx="3990610" cy="4303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405856" y="458510"/>
              <a:ext cx="29944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keyEventHandler</a:t>
              </a:r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erlin Sans FB Demi" panose="020E0802020502020306" pitchFamily="34" charset="0"/>
                </a:rPr>
                <a:t>()</a:t>
              </a:r>
              <a:endParaRPr lang="ko-KR" alt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6800" y="880147"/>
              <a:ext cx="3275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</a:rPr>
                <a:t>키보드 이벤트를 받는 함수</a:t>
              </a:r>
              <a:endPara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5465" y="1713788"/>
              <a:ext cx="20662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GLUT_KEY_LEFT</a:t>
              </a:r>
            </a:p>
          </p:txBody>
        </p:sp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930346" y="2176846"/>
              <a:ext cx="3620530" cy="43033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4930346" y="1713787"/>
              <a:ext cx="22905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GLUT_KEY_RIGHT</a:t>
              </a:r>
            </a:p>
          </p:txBody>
        </p:sp>
      </p:grpSp>
      <p:sp>
        <p:nvSpPr>
          <p:cNvPr id="7" name="원형 화살표 6"/>
          <p:cNvSpPr/>
          <p:nvPr/>
        </p:nvSpPr>
        <p:spPr>
          <a:xfrm rot="10800000">
            <a:off x="5968314" y="3620529"/>
            <a:ext cx="2224216" cy="2261287"/>
          </a:xfrm>
          <a:prstGeom prst="circularArrow">
            <a:avLst>
              <a:gd name="adj1" fmla="val 6801"/>
              <a:gd name="adj2" fmla="val 1142319"/>
              <a:gd name="adj3" fmla="val 20359588"/>
              <a:gd name="adj4" fmla="val 10800000"/>
              <a:gd name="adj5" fmla="val 12500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원형 화살표 16"/>
          <p:cNvSpPr/>
          <p:nvPr/>
        </p:nvSpPr>
        <p:spPr>
          <a:xfrm rot="10800000" flipH="1">
            <a:off x="1903093" y="3620529"/>
            <a:ext cx="2224216" cy="2261287"/>
          </a:xfrm>
          <a:prstGeom prst="circularArrow">
            <a:avLst>
              <a:gd name="adj1" fmla="val 6801"/>
              <a:gd name="adj2" fmla="val 1142319"/>
              <a:gd name="adj3" fmla="val 20359588"/>
              <a:gd name="adj4" fmla="val 10800000"/>
              <a:gd name="adj5" fmla="val 12500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6037" y="1227179"/>
            <a:ext cx="7888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카메라 시점이 물체를 중심으로 좌</a:t>
            </a:r>
            <a:r>
              <a:rPr lang="en-US" altLang="ko-KR" sz="2000" b="1">
                <a:solidFill>
                  <a:schemeClr val="accent4"/>
                </a:solidFill>
                <a:latin typeface="+mj-ea"/>
                <a:ea typeface="+mj-ea"/>
              </a:rPr>
              <a:t>, </a:t>
            </a:r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우로 회전합니다</a:t>
            </a:r>
            <a:r>
              <a:rPr lang="en-US" altLang="ko-KR" sz="2000" b="1">
                <a:solidFill>
                  <a:schemeClr val="accent4"/>
                </a:solidFill>
                <a:latin typeface="+mj-ea"/>
                <a:ea typeface="+mj-ea"/>
              </a:rPr>
              <a:t>(</a:t>
            </a:r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물체 이동 </a:t>
            </a:r>
            <a:r>
              <a:rPr lang="en-US" altLang="ko-KR" sz="2000" b="1">
                <a:solidFill>
                  <a:schemeClr val="accent4"/>
                </a:solidFill>
                <a:latin typeface="+mj-ea"/>
                <a:ea typeface="+mj-ea"/>
              </a:rPr>
              <a:t>X)</a:t>
            </a:r>
          </a:p>
        </p:txBody>
      </p:sp>
    </p:spTree>
    <p:extLst>
      <p:ext uri="{BB962C8B-B14F-4D97-AF65-F5344CB8AC3E}">
        <p14:creationId xmlns:p14="http://schemas.microsoft.com/office/powerpoint/2010/main" val="232607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396800" y="458510"/>
            <a:ext cx="8154076" cy="5236279"/>
            <a:chOff x="396800" y="458510"/>
            <a:chExt cx="8154076" cy="5236279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1705" y="2075926"/>
              <a:ext cx="3681691" cy="3618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405856" y="458510"/>
              <a:ext cx="29944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keyEventHandler</a:t>
              </a:r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erlin Sans FB Demi" panose="020E0802020502020306" pitchFamily="34" charset="0"/>
                </a:rPr>
                <a:t>()</a:t>
              </a:r>
              <a:endParaRPr lang="ko-KR" alt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6800" y="880147"/>
              <a:ext cx="3275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</a:rPr>
                <a:t>키보드 이벤트를 받는 함수</a:t>
              </a:r>
              <a:endPara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8003" y="1659658"/>
              <a:ext cx="18545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GLUT_KEY_UP</a:t>
              </a:r>
            </a:p>
          </p:txBody>
        </p:sp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25949" y="2075927"/>
              <a:ext cx="3824927" cy="35093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4725949" y="1659657"/>
              <a:ext cx="23643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GLUT_KEY_DOWN</a:t>
              </a:r>
            </a:p>
          </p:txBody>
        </p:sp>
      </p:grpSp>
      <p:sp>
        <p:nvSpPr>
          <p:cNvPr id="10" name="원형 화살표 9"/>
          <p:cNvSpPr/>
          <p:nvPr/>
        </p:nvSpPr>
        <p:spPr>
          <a:xfrm rot="10800000" flipH="1">
            <a:off x="1178335" y="2940907"/>
            <a:ext cx="2224216" cy="2261287"/>
          </a:xfrm>
          <a:prstGeom prst="circularArrow">
            <a:avLst>
              <a:gd name="adj1" fmla="val 6801"/>
              <a:gd name="adj2" fmla="val 1142319"/>
              <a:gd name="adj3" fmla="val 20359588"/>
              <a:gd name="adj4" fmla="val 10800000"/>
              <a:gd name="adj5" fmla="val 12500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원형 화살표 15"/>
          <p:cNvSpPr/>
          <p:nvPr/>
        </p:nvSpPr>
        <p:spPr>
          <a:xfrm rot="10800000">
            <a:off x="5662228" y="3052119"/>
            <a:ext cx="2224216" cy="2261287"/>
          </a:xfrm>
          <a:prstGeom prst="circularArrow">
            <a:avLst>
              <a:gd name="adj1" fmla="val 6801"/>
              <a:gd name="adj2" fmla="val 1142319"/>
              <a:gd name="adj3" fmla="val 20359588"/>
              <a:gd name="adj4" fmla="val 10800000"/>
              <a:gd name="adj5" fmla="val 12500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6037" y="1227179"/>
            <a:ext cx="6500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구를 중심으로 주변에 큐브들이 위</a:t>
            </a:r>
            <a:r>
              <a:rPr lang="en-US" altLang="ko-KR" sz="2000" b="1">
                <a:solidFill>
                  <a:schemeClr val="accent4"/>
                </a:solidFill>
                <a:latin typeface="+mj-ea"/>
                <a:ea typeface="+mj-ea"/>
              </a:rPr>
              <a:t>, </a:t>
            </a:r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아래로 회전합니다</a:t>
            </a:r>
            <a:endParaRPr lang="en-US" altLang="ko-KR" sz="2000" b="1">
              <a:solidFill>
                <a:schemeClr val="accent4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08187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396800" y="458510"/>
            <a:ext cx="8020392" cy="5258608"/>
            <a:chOff x="396800" y="458510"/>
            <a:chExt cx="8020392" cy="5258608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94451" y="2075926"/>
              <a:ext cx="3536198" cy="3618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405856" y="458510"/>
              <a:ext cx="33902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processNormalKeys</a:t>
              </a:r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erlin Sans FB Demi" panose="020E0802020502020306" pitchFamily="34" charset="0"/>
                </a:rPr>
                <a:t>()</a:t>
              </a:r>
              <a:endParaRPr lang="ko-KR" alt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6800" y="880147"/>
              <a:ext cx="3275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</a:rPr>
                <a:t>키보드 이벤트를 받는 함수</a:t>
              </a:r>
              <a:endPara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08003" y="1659658"/>
              <a:ext cx="10198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KEY_’z’</a:t>
              </a:r>
            </a:p>
          </p:txBody>
        </p:sp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25950" y="2075927"/>
              <a:ext cx="3691242" cy="3641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>
              <a:off x="4725949" y="1659657"/>
              <a:ext cx="10219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+mj-ea"/>
                  <a:ea typeface="+mj-ea"/>
                </a:rPr>
                <a:t>KEY_’a’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96037" y="1227179"/>
            <a:ext cx="79911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카메라 시점을 줌 인</a:t>
            </a:r>
            <a:r>
              <a:rPr lang="en-US" altLang="ko-KR" sz="2000" b="1">
                <a:solidFill>
                  <a:schemeClr val="accent4"/>
                </a:solidFill>
                <a:latin typeface="+mj-ea"/>
                <a:ea typeface="+mj-ea"/>
              </a:rPr>
              <a:t>(‘Z’), </a:t>
            </a:r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줌 아웃</a:t>
            </a:r>
            <a:r>
              <a:rPr lang="en-US" altLang="ko-KR" sz="2000" b="1">
                <a:solidFill>
                  <a:schemeClr val="accent4"/>
                </a:solidFill>
                <a:latin typeface="+mj-ea"/>
                <a:ea typeface="+mj-ea"/>
              </a:rPr>
              <a:t>(‘A’) </a:t>
            </a:r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합니다</a:t>
            </a:r>
            <a:r>
              <a:rPr lang="en-US" altLang="ko-KR" sz="2000" b="1">
                <a:solidFill>
                  <a:schemeClr val="accent4"/>
                </a:solidFill>
                <a:latin typeface="+mj-ea"/>
                <a:ea typeface="+mj-ea"/>
              </a:rPr>
              <a:t>(</a:t>
            </a:r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일정시점 도달시 제한</a:t>
            </a:r>
            <a:r>
              <a:rPr lang="en-US" altLang="ko-KR" sz="2000" b="1">
                <a:solidFill>
                  <a:schemeClr val="accent4"/>
                </a:solidFill>
                <a:latin typeface="+mj-ea"/>
                <a:ea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5353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396800" y="458510"/>
            <a:ext cx="7807384" cy="5258608"/>
            <a:chOff x="396800" y="458510"/>
            <a:chExt cx="7807384" cy="5258608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94451" y="2084055"/>
              <a:ext cx="3536198" cy="36026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405856" y="458510"/>
              <a:ext cx="27911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motionCallback</a:t>
              </a:r>
              <a:r>
                <a:rPr lang="en-US" altLang="ko-KR" sz="28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erlin Sans FB Demi" panose="020E0802020502020306" pitchFamily="34" charset="0"/>
                </a:rPr>
                <a:t>()</a:t>
              </a:r>
              <a:endParaRPr lang="ko-KR" alt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6800" y="880147"/>
              <a:ext cx="3275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j-ea"/>
                  <a:ea typeface="+mj-ea"/>
                </a:rPr>
                <a:t>키보드 이벤트를 받는 함수</a:t>
              </a:r>
              <a:endPara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819135" y="2075927"/>
              <a:ext cx="3385049" cy="36411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extBox 9"/>
          <p:cNvSpPr txBox="1"/>
          <p:nvPr/>
        </p:nvSpPr>
        <p:spPr>
          <a:xfrm>
            <a:off x="396037" y="1227179"/>
            <a:ext cx="69926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마우스 드래그를 통해 물체를 </a:t>
            </a:r>
            <a:r>
              <a:rPr lang="en-US" altLang="ko-KR" sz="2000" b="1">
                <a:solidFill>
                  <a:schemeClr val="accent4"/>
                </a:solidFill>
                <a:latin typeface="+mj-ea"/>
                <a:ea typeface="+mj-ea"/>
              </a:rPr>
              <a:t>360</a:t>
            </a:r>
            <a:r>
              <a:rPr lang="ko-KR" altLang="en-US" sz="2000" b="1">
                <a:solidFill>
                  <a:schemeClr val="accent4"/>
                </a:solidFill>
                <a:latin typeface="+mj-ea"/>
                <a:ea typeface="+mj-ea"/>
              </a:rPr>
              <a:t>도 회전 시킬 수 있습니다</a:t>
            </a:r>
            <a:r>
              <a:rPr lang="en-US" altLang="ko-KR" sz="2000" b="1">
                <a:solidFill>
                  <a:schemeClr val="accent4"/>
                </a:solidFill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2924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 rot="5004688">
            <a:off x="3172929" y="561124"/>
            <a:ext cx="2955192" cy="53408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6"/>
          <p:cNvSpPr/>
          <p:nvPr/>
        </p:nvSpPr>
        <p:spPr>
          <a:xfrm rot="5400000">
            <a:off x="3259740" y="624018"/>
            <a:ext cx="2955192" cy="53408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718745" y="2785665"/>
            <a:ext cx="1510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PART V.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84979" y="3123530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</a:rPr>
              <a:t>결론</a:t>
            </a:r>
            <a:endParaRPr lang="ko-KR" alt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</a:endParaRPr>
          </a:p>
        </p:txBody>
      </p:sp>
      <p:pic>
        <p:nvPicPr>
          <p:cNvPr id="1026" name="Picture 2" descr="C:\Users\Administrator\Desktop\stock-illustration-51496560-light-bulb-vector-icon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754" y="2262347"/>
            <a:ext cx="2064166" cy="206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820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298" y="1587074"/>
            <a:ext cx="2702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CONCLUSION </a:t>
            </a:r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I.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7298" y="2023560"/>
            <a:ext cx="8882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다양한 </a:t>
            </a:r>
            <a:r>
              <a: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modeling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툴을 사용하지 않고</a:t>
            </a:r>
            <a:r>
              <a: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순수하게 만들어보는 경험을 통해서 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화면에 그려지는 방법</a:t>
            </a:r>
            <a:r>
              <a: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원리에 대해서 더욱 심도있게 알 수 있었습니다</a:t>
            </a:r>
            <a:r>
              <a: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2200" b="1" dirty="0"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1110" y="2836425"/>
            <a:ext cx="2810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CONCLUSION </a:t>
            </a:r>
            <a:r>
              <a:rPr lang="en-US" altLang="ko-KR" sz="2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II.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125" y="3258062"/>
            <a:ext cx="84056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2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차원 </a:t>
            </a:r>
            <a:r>
              <a: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texture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이미지 파일을 </a:t>
            </a:r>
            <a:r>
              <a: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3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차원 모델링 구현체에 좀 더 자연스럽게 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입히는 방법을 배울 수 있었습니다</a:t>
            </a:r>
            <a:r>
              <a: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.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</a:t>
            </a:r>
            <a:endParaRPr lang="ko-KR" altLang="en-US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2940" y="4054349"/>
            <a:ext cx="2917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CONCLUSION III.</a:t>
            </a:r>
            <a:endParaRPr lang="ko-KR" altLang="en-US" sz="2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0955" y="4475986"/>
            <a:ext cx="84978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사용자가 발생 시키는 마우스 이벤트</a:t>
            </a:r>
            <a:r>
              <a: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키보드 이벤트를 통해서 구현체와 </a:t>
            </a:r>
            <a:endParaRPr lang="en-US" altLang="ko-KR" sz="2000" b="1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카메라 시점에 다양한 변화를 주는 방법을 알게 되었습니다</a:t>
            </a:r>
            <a:r>
              <a:rPr lang="en-US" altLang="ko-KR" sz="2000" b="1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2200" b="1" dirty="0">
              <a:solidFill>
                <a:schemeClr val="accent1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08433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475</Words>
  <Application>Microsoft Office PowerPoint</Application>
  <PresentationFormat>화면 슬라이드 쇼(4:3)</PresentationFormat>
  <Paragraphs>113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DX시인과나</vt:lpstr>
      <vt:lpstr>Arial</vt:lpstr>
      <vt:lpstr>Berlin Sans FB Demi</vt:lpstr>
      <vt:lpstr>Calibri</vt:lpstr>
      <vt:lpstr>Calibri Light</vt:lpstr>
      <vt:lpstr>Office 테마</vt:lpstr>
      <vt:lpstr>마스터 제목 스타일 편집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마스터 제목 스타일 편집</dc:title>
  <dc:creator>Chemistry</dc:creator>
  <cp:lastModifiedBy>정진 이</cp:lastModifiedBy>
  <cp:revision>21</cp:revision>
  <dcterms:created xsi:type="dcterms:W3CDTF">2016-06-02T23:51:20Z</dcterms:created>
  <dcterms:modified xsi:type="dcterms:W3CDTF">2025-03-03T04:46:51Z</dcterms:modified>
</cp:coreProperties>
</file>