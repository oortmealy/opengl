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436" r:id="rId2"/>
    <p:sldId id="259" r:id="rId3"/>
    <p:sldId id="425" r:id="rId4"/>
    <p:sldId id="363" r:id="rId5"/>
    <p:sldId id="428" r:id="rId6"/>
    <p:sldId id="440" r:id="rId7"/>
    <p:sldId id="441" r:id="rId8"/>
    <p:sldId id="322" r:id="rId9"/>
    <p:sldId id="448" r:id="rId10"/>
    <p:sldId id="449" r:id="rId11"/>
    <p:sldId id="450" r:id="rId12"/>
    <p:sldId id="451" r:id="rId13"/>
    <p:sldId id="443" r:id="rId14"/>
    <p:sldId id="442" r:id="rId15"/>
    <p:sldId id="321" r:id="rId16"/>
    <p:sldId id="430" r:id="rId17"/>
    <p:sldId id="334" r:id="rId18"/>
    <p:sldId id="414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01EF"/>
    <a:srgbClr val="99FF99"/>
    <a:srgbClr val="EFEF0F"/>
    <a:srgbClr val="FFFF99"/>
    <a:srgbClr val="B8C8AA"/>
    <a:srgbClr val="BB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87500" autoAdjust="0"/>
  </p:normalViewPr>
  <p:slideViewPr>
    <p:cSldViewPr>
      <p:cViewPr varScale="1">
        <p:scale>
          <a:sx n="58" d="100"/>
          <a:sy n="58" d="100"/>
        </p:scale>
        <p:origin x="1432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079A2-86DC-456F-B4BB-139998D17FD8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4F10C-2B76-4716-B424-7A070ABC4B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46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D4F10C-2B76-4716-B424-7A070ABC4BEF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789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D4F10C-2B76-4716-B424-7A070ABC4BE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476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D4F10C-2B76-4716-B424-7A070ABC4BEF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628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499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0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334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13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35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91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1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690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68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8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055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6E635-2DFD-4905-997C-88AB219297DA}" type="datetimeFigureOut">
              <a:rPr lang="ko-KR" altLang="en-US" smtClean="0"/>
              <a:pPr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6992C-0DA3-49FA-8134-211B5D0F92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550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42"/>
          <a:stretch/>
        </p:blipFill>
        <p:spPr bwMode="auto">
          <a:xfrm>
            <a:off x="0" y="0"/>
            <a:ext cx="9144000" cy="742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-520774" y="1628800"/>
            <a:ext cx="1062067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Graphics </a:t>
            </a:r>
          </a:p>
          <a:p>
            <a:pPr algn="ctr"/>
            <a:endParaRPr lang="en-US" altLang="ko-KR" sz="4400" b="1" i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altLang="ko-KR" sz="32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–3D Virtual Human Modeling &amp; Visualization-</a:t>
            </a:r>
          </a:p>
          <a:p>
            <a:r>
              <a:rPr lang="en-US" altLang="ko-KR" sz="40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ko-KR" sz="44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</a:t>
            </a:r>
            <a:endParaRPr lang="ko-KR" altLang="en-US" sz="4400" b="1" i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1554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857250"/>
            <a:ext cx="1247775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857250"/>
            <a:ext cx="1247775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직사각형 18"/>
          <p:cNvSpPr/>
          <p:nvPr/>
        </p:nvSpPr>
        <p:spPr>
          <a:xfrm>
            <a:off x="0" y="0"/>
            <a:ext cx="9144000" cy="857232"/>
          </a:xfrm>
          <a:prstGeom prst="rect">
            <a:avLst/>
          </a:prstGeom>
          <a:solidFill>
            <a:srgbClr val="B8C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27784" y="2265834"/>
            <a:ext cx="369039" cy="4616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1</a:t>
            </a:r>
            <a:endParaRPr lang="ko-KR" alt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27784" y="3201938"/>
            <a:ext cx="362600" cy="4616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2</a:t>
            </a:r>
            <a:endParaRPr lang="ko-KR" alt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7784" y="4210050"/>
            <a:ext cx="367408" cy="4616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3</a:t>
            </a:r>
            <a:endParaRPr lang="ko-KR" alt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59832" y="2193826"/>
            <a:ext cx="75608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/>
              <a:t>Model</a:t>
            </a:r>
          </a:p>
          <a:p>
            <a:endParaRPr lang="en-US" altLang="ko-KR" sz="1600" b="1" i="1" dirty="0"/>
          </a:p>
          <a:p>
            <a:endParaRPr lang="en-US" altLang="ko-KR" sz="1600" b="1" i="1" dirty="0"/>
          </a:p>
          <a:p>
            <a:r>
              <a:rPr lang="en-US" altLang="ko-KR" sz="3200" b="1" i="1" dirty="0"/>
              <a:t>Implementation</a:t>
            </a:r>
          </a:p>
          <a:p>
            <a:endParaRPr lang="en-US" altLang="ko-KR" sz="1600" b="1" i="1" dirty="0"/>
          </a:p>
          <a:p>
            <a:endParaRPr lang="en-US" altLang="ko-KR" sz="1600" b="1" i="1" dirty="0"/>
          </a:p>
          <a:p>
            <a:r>
              <a:rPr lang="en-US" altLang="ko-KR" sz="3200" b="1" i="1" dirty="0"/>
              <a:t>Demo</a:t>
            </a:r>
          </a:p>
          <a:p>
            <a:endParaRPr lang="en-US" altLang="ko-KR" sz="1600" b="1" i="1" dirty="0"/>
          </a:p>
          <a:p>
            <a:endParaRPr lang="en-US" altLang="ko-KR" sz="1600" b="1" i="1" dirty="0"/>
          </a:p>
          <a:p>
            <a:r>
              <a:rPr lang="en-US" altLang="ko-KR" sz="3200" b="1" i="1" dirty="0"/>
              <a:t>Epilogue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7784" y="5218162"/>
            <a:ext cx="354584" cy="4616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4</a:t>
            </a:r>
            <a:endParaRPr lang="ko-KR" alt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5720" y="116632"/>
            <a:ext cx="6660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</a:t>
            </a:r>
            <a:endParaRPr lang="ko-KR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5408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71462"/>
            <a:ext cx="9144000" cy="34290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119636" y="-71462"/>
            <a:ext cx="3024000" cy="34290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120032" y="-71462"/>
            <a:ext cx="3024000" cy="34290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362253"/>
            <a:ext cx="8244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1. Model</a:t>
            </a:r>
            <a:endParaRPr lang="ko-KR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0" y="335699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http://www.cu.net/wp-content/uploads/2011/06/TIMS-Software-Implement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74" y="2454171"/>
            <a:ext cx="9159974" cy="503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-71462"/>
            <a:ext cx="9144000" cy="92869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6346" y="116632"/>
            <a:ext cx="6660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  <a:endParaRPr lang="ko-KR" altLang="en-US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268760"/>
            <a:ext cx="90176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ko-KR" altLang="en-US" sz="2800" dirty="0"/>
              <a:t>모델링 주체 </a:t>
            </a:r>
            <a:r>
              <a:rPr lang="en-US" altLang="ko-KR" sz="2800" dirty="0"/>
              <a:t>: LEGO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ko-KR" altLang="en-US" sz="2800" dirty="0"/>
              <a:t>모델링 캐릭터 </a:t>
            </a:r>
            <a:r>
              <a:rPr lang="en-US" altLang="ko-KR" sz="2800" dirty="0"/>
              <a:t>: Spider Man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ko-KR" altLang="en-US" sz="2800" dirty="0"/>
          </a:p>
        </p:txBody>
      </p:sp>
      <p:pic>
        <p:nvPicPr>
          <p:cNvPr id="4098" name="Picture 2" descr="http://vignette2.wikia.nocookie.net/amazingspiderman/images/5/5b/Amazing-spiderman.png/revision/latest?cb=201501032324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973" y="3620792"/>
            <a:ext cx="3237207" cy="323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vignette1.wikia.nocookie.net/lego/images/d/d2/N_6873_spider_man.jpg/revision/latest?cb=2012070123215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247" y="3569588"/>
            <a:ext cx="2043858" cy="324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아래쪽 화살표 12"/>
          <p:cNvSpPr/>
          <p:nvPr/>
        </p:nvSpPr>
        <p:spPr>
          <a:xfrm rot="16200000">
            <a:off x="2765877" y="4282501"/>
            <a:ext cx="371570" cy="9009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아래쪽 화살표 14"/>
          <p:cNvSpPr/>
          <p:nvPr/>
        </p:nvSpPr>
        <p:spPr>
          <a:xfrm rot="16200000">
            <a:off x="6150303" y="4282501"/>
            <a:ext cx="371570" cy="9009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455" b="94545" l="9704" r="89488">
                        <a14:foregroundMark x1="48518" y1="91948" x2="50135" y2="945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598" y="3226975"/>
            <a:ext cx="3878482" cy="4024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2649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0" y="-71462"/>
            <a:ext cx="9144000" cy="342902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119636" y="-71462"/>
            <a:ext cx="3024000" cy="34290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143636" y="-71462"/>
            <a:ext cx="3024000" cy="342902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844824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2. Implementation </a:t>
            </a:r>
            <a:endParaRPr lang="ko-KR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AutoShape 2" descr="coding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4" descr="coding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6" descr="coding에 대한 이미지 검색결과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AutoShape 8" descr="coding에 대한 이미지 검색결과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10" descr="coding에 대한 이미지 검색결과"/>
          <p:cNvSpPr>
            <a:spLocks noChangeAspect="1" noChangeArrowheads="1"/>
          </p:cNvSpPr>
          <p:nvPr/>
        </p:nvSpPr>
        <p:spPr bwMode="auto">
          <a:xfrm>
            <a:off x="7778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60" name="Picture 12" descr="http://www.techfest.org/images/segments/competitions/ticc/online-cod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752" y="2805062"/>
            <a:ext cx="9168752" cy="4584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-71462"/>
            <a:ext cx="9144000" cy="9286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346" y="116632"/>
            <a:ext cx="725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1</a:t>
            </a:r>
            <a:endParaRPr lang="ko-KR" altLang="en-US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33772" y="1700808"/>
            <a:ext cx="8676456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ko-KR" alt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몸통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다리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발</a:t>
            </a:r>
            <a:endParaRPr lang="en-US" altLang="ko-KR" sz="2000" kern="0" dirty="0">
              <a:solidFill>
                <a:srgbClr val="FF0000"/>
              </a:solidFill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ko-KR" altLang="en-US" sz="2000" kern="0" dirty="0">
                <a:solidFill>
                  <a:srgbClr val="000000"/>
                </a:solidFill>
              </a:rPr>
              <a:t>    </a:t>
            </a:r>
            <a:r>
              <a:rPr lang="en-US" altLang="ko-K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glBegin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altLang="ko-KR" sz="2000" dirty="0">
                <a:solidFill>
                  <a:srgbClr val="6F008A"/>
                </a:solidFill>
                <a:highlight>
                  <a:srgbClr val="FFFFFF"/>
                </a:highlight>
                <a:latin typeface="Consolas"/>
              </a:rPr>
              <a:t>GL_QUADS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와 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glVertex3f()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에서 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3D 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좌표를 주어 육면체의 몸통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다리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발을 만듦</a:t>
            </a:r>
            <a:endParaRPr lang="en-US" altLang="ko-KR" sz="2000" kern="0" dirty="0">
              <a:solidFill>
                <a:srgbClr val="000000"/>
              </a:solidFill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endParaRPr lang="en-US" altLang="ko-KR" kern="0" dirty="0"/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ko-KR" alt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허벅지</a:t>
            </a:r>
            <a:endParaRPr lang="en-US" altLang="ko-KR" sz="2400" kern="0" dirty="0">
              <a:solidFill>
                <a:srgbClr val="FF0000"/>
              </a:solidFill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altLang="ko-KR" sz="2000" kern="0" dirty="0"/>
              <a:t>    </a:t>
            </a:r>
            <a:r>
              <a:rPr lang="ko-KR" altLang="en-US" sz="2000" kern="0" dirty="0" err="1"/>
              <a:t>레고에서</a:t>
            </a:r>
            <a:r>
              <a:rPr lang="ko-KR" altLang="en-US" sz="2000" kern="0" dirty="0"/>
              <a:t> 다리윗부분의 볼록 튀어나온 부분은 </a:t>
            </a:r>
            <a:r>
              <a:rPr lang="en-US" altLang="ko-K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gluCylinder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와 </a:t>
            </a:r>
            <a:r>
              <a:rPr lang="en-US" altLang="ko-K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glutSolidSphere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로 다리부분과 겹쳐서 구현</a:t>
            </a:r>
            <a:endParaRPr lang="en-US" altLang="ko-KR" sz="2000" kern="0" dirty="0"/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ko-KR" sz="2000" kern="0" dirty="0"/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ko-KR" alt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얼굴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목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손목</a:t>
            </a:r>
            <a:endParaRPr lang="en-US" altLang="ko-KR" sz="2400" kern="0" dirty="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altLang="ko-KR" sz="2400" kern="0" dirty="0">
                <a:solidFill>
                  <a:srgbClr val="FF0000"/>
                </a:solidFill>
                <a:highlight>
                  <a:srgbClr val="FFFFFF"/>
                </a:highlight>
              </a:rPr>
              <a:t>    </a:t>
            </a:r>
            <a:r>
              <a:rPr lang="ko-KR" altLang="en-US" sz="2000" kern="0" dirty="0"/>
              <a:t>허벅지와 마찬가지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gluCylinder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와 </a:t>
            </a:r>
            <a:r>
              <a:rPr lang="en-US" altLang="ko-K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glutSolidSphere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로 구현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88937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-71462"/>
            <a:ext cx="9144000" cy="9286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346" y="116632"/>
            <a:ext cx="725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2</a:t>
            </a:r>
            <a:endParaRPr lang="ko-KR" altLang="en-US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233772" y="1268760"/>
                <a:ext cx="8676456" cy="55120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itchFamily="2" charset="2"/>
                  <a:buChar char="§"/>
                  <a:defRPr/>
                </a:pPr>
                <a:r>
                  <a:rPr lang="ko-KR" altLang="en-US" sz="24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레고의 머리</a:t>
                </a:r>
                <a:endParaRPr lang="en-US" altLang="ko-KR" sz="2000" kern="0" dirty="0">
                  <a:solidFill>
                    <a:srgbClr val="FF0000"/>
                  </a:solidFill>
                </a:endParaRPr>
              </a:p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defRPr/>
                </a:pPr>
                <a:r>
                  <a:rPr lang="ko-KR" altLang="en-US" sz="2000" kern="0" dirty="0">
                    <a:solidFill>
                      <a:srgbClr val="000000"/>
                    </a:solidFill>
                  </a:rPr>
                  <a:t>    </a:t>
                </a:r>
                <a:r>
                  <a:rPr lang="ko-KR" altLang="en-US" sz="2000" dirty="0" err="1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레고의</a:t>
                </a:r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얼굴 윗부분에 튀어나온 머리꼭지는 자체적으로 만든 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Torus</a:t>
                </a:r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함수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(</a:t>
                </a:r>
                <a:r>
                  <a:rPr lang="en-US" altLang="ko-KR" sz="2000" dirty="0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static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</a:t>
                </a:r>
                <a:r>
                  <a:rPr lang="en-US" altLang="ko-KR" sz="2000" dirty="0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void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</a:t>
                </a:r>
                <a:r>
                  <a:rPr lang="en-US" altLang="ko-KR" sz="2000" dirty="0" err="1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torus_hat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(</a:t>
                </a:r>
                <a:r>
                  <a:rPr lang="en-US" altLang="ko-KR" sz="2000" dirty="0" err="1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int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</a:t>
                </a:r>
                <a:r>
                  <a:rPr lang="en-US" altLang="ko-KR" sz="2000" dirty="0" err="1">
                    <a:solidFill>
                      <a:srgbClr val="808080"/>
                    </a:solidFill>
                    <a:highlight>
                      <a:srgbClr val="FFFFFF"/>
                    </a:highlight>
                    <a:latin typeface="Consolas"/>
                  </a:rPr>
                  <a:t>numc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, </a:t>
                </a:r>
                <a:r>
                  <a:rPr lang="en-US" altLang="ko-KR" sz="2000" dirty="0" err="1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int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</a:t>
                </a:r>
                <a:r>
                  <a:rPr lang="en-US" altLang="ko-KR" sz="2000" dirty="0" err="1">
                    <a:solidFill>
                      <a:srgbClr val="808080"/>
                    </a:solidFill>
                    <a:highlight>
                      <a:srgbClr val="FFFFFF"/>
                    </a:highlight>
                    <a:latin typeface="Consolas"/>
                  </a:rPr>
                  <a:t>numt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))</a:t>
                </a:r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를 사용하여 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torus</a:t>
                </a:r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의 굵기나 높이를 조절하여 구현</a:t>
                </a:r>
                <a:endParaRPr lang="en-US" altLang="ko-KR" sz="2000" kern="0" dirty="0">
                  <a:solidFill>
                    <a:srgbClr val="000000"/>
                  </a:solidFill>
                </a:endParaRPr>
              </a:p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defRPr/>
                </a:pPr>
                <a:endParaRPr lang="en-US" altLang="ko-KR" kern="0" dirty="0"/>
              </a:p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itchFamily="2" charset="2"/>
                  <a:buChar char="§"/>
                  <a:defRPr/>
                </a:pPr>
                <a:r>
                  <a:rPr lang="ko-KR" altLang="en-US" sz="24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팔</a:t>
                </a:r>
                <a:endParaRPr lang="en-US" altLang="ko-KR" sz="2400" kern="0" dirty="0">
                  <a:solidFill>
                    <a:srgbClr val="FF0000"/>
                  </a:solidFill>
                </a:endParaRPr>
              </a:p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defRPr/>
                </a:pPr>
                <a:r>
                  <a:rPr lang="en-US" altLang="ko-KR" sz="2000" kern="0" dirty="0"/>
                  <a:t>    </a:t>
                </a:r>
                <a:r>
                  <a:rPr lang="ko-KR" altLang="en-US" sz="2000" kern="0" dirty="0"/>
                  <a:t>팔은 </a:t>
                </a:r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자체적으로 만든 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Torus</a:t>
                </a:r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함수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(</a:t>
                </a:r>
                <a:r>
                  <a:rPr lang="en-US" altLang="ko-KR" sz="2000" dirty="0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static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</a:t>
                </a:r>
                <a:r>
                  <a:rPr lang="en-US" altLang="ko-KR" sz="2000" dirty="0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void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torus(</a:t>
                </a:r>
                <a:r>
                  <a:rPr lang="en-US" altLang="ko-KR" sz="2000" dirty="0" err="1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int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</a:t>
                </a:r>
                <a:r>
                  <a:rPr lang="en-US" altLang="ko-KR" sz="2000" dirty="0" err="1">
                    <a:solidFill>
                      <a:srgbClr val="808080"/>
                    </a:solidFill>
                    <a:highlight>
                      <a:srgbClr val="FFFFFF"/>
                    </a:highlight>
                    <a:latin typeface="Consolas"/>
                  </a:rPr>
                  <a:t>numc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, </a:t>
                </a:r>
                <a:r>
                  <a:rPr lang="en-US" altLang="ko-KR" sz="2000" dirty="0" err="1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int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</a:t>
                </a:r>
                <a:r>
                  <a:rPr lang="en-US" altLang="ko-KR" sz="2000" dirty="0" err="1">
                    <a:solidFill>
                      <a:srgbClr val="808080"/>
                    </a:solidFill>
                    <a:highlight>
                      <a:srgbClr val="FFFFFF"/>
                    </a:highlight>
                    <a:latin typeface="Consolas"/>
                  </a:rPr>
                  <a:t>numt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))</a:t>
                </a:r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를 사용하여 전체 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2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mbria Math"/>
                      </a:rPr>
                      <m:t>𝜋</m:t>
                    </m:r>
                  </m:oMath>
                </a14:m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중에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US" altLang="ko-KR" sz="2400" i="1" dirty="0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ko-KR" altLang="en-US" sz="2400" i="1" smtClean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mbria Math"/>
                      </a:rPr>
                      <m:t>𝜋</m:t>
                    </m:r>
                    <m:r>
                      <a:rPr lang="ko-KR" altLang="en-US" sz="2400" b="0" i="1" smtClean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mbria Math"/>
                      </a:rPr>
                      <m:t>만</m:t>
                    </m:r>
                  </m:oMath>
                </a14:m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그려지도록 조절하여 왼쪽과 오른쪽 팔을 구현</a:t>
                </a:r>
                <a:endParaRPr lang="en-US" altLang="ko-KR" sz="2000" kern="0" dirty="0"/>
              </a:p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itchFamily="2" charset="2"/>
                  <a:buChar char="§"/>
                  <a:defRPr/>
                </a:pPr>
                <a:endParaRPr lang="en-US" altLang="ko-KR" sz="2000" kern="0" dirty="0"/>
              </a:p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itchFamily="2" charset="2"/>
                  <a:buChar char="§"/>
                  <a:defRPr/>
                </a:pPr>
                <a:r>
                  <a:rPr lang="ko-KR" altLang="en-US" sz="24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손</a:t>
                </a:r>
                <a:endParaRPr lang="en-US" altLang="ko-KR" sz="2400" kern="0" dirty="0">
                  <a:solidFill>
                    <a:srgbClr val="FF0000"/>
                  </a:solidFill>
                  <a:highlight>
                    <a:srgbClr val="FFFFFF"/>
                  </a:highlight>
                </a:endParaRPr>
              </a:p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defRPr/>
                </a:pPr>
                <a:r>
                  <a:rPr lang="en-US" altLang="ko-KR" sz="2400" kern="0" dirty="0">
                    <a:solidFill>
                      <a:srgbClr val="FF0000"/>
                    </a:solidFill>
                    <a:highlight>
                      <a:srgbClr val="FFFFFF"/>
                    </a:highlight>
                  </a:rPr>
                  <a:t>    </a:t>
                </a:r>
                <a:r>
                  <a:rPr lang="ko-KR" altLang="en-US" sz="2000" kern="0" dirty="0"/>
                  <a:t>팔은 </a:t>
                </a:r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자체적으로 만든 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Torus</a:t>
                </a:r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함수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(</a:t>
                </a:r>
                <a:r>
                  <a:rPr lang="en-US" altLang="ko-KR" sz="2000" dirty="0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static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</a:t>
                </a:r>
                <a:r>
                  <a:rPr lang="en-US" altLang="ko-KR" sz="2000" dirty="0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void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</a:t>
                </a:r>
                <a:r>
                  <a:rPr lang="en-US" altLang="ko-KR" sz="2000" dirty="0" err="1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torus_hand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(</a:t>
                </a:r>
                <a:r>
                  <a:rPr lang="en-US" altLang="ko-KR" sz="2000" dirty="0" err="1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int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</a:t>
                </a:r>
                <a:r>
                  <a:rPr lang="en-US" altLang="ko-KR" sz="2000" dirty="0" err="1">
                    <a:solidFill>
                      <a:srgbClr val="808080"/>
                    </a:solidFill>
                    <a:highlight>
                      <a:srgbClr val="FFFFFF"/>
                    </a:highlight>
                    <a:latin typeface="Consolas"/>
                  </a:rPr>
                  <a:t>numc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, </a:t>
                </a:r>
                <a:r>
                  <a:rPr lang="en-US" altLang="ko-KR" sz="2000" dirty="0" err="1">
                    <a:solidFill>
                      <a:srgbClr val="0000FF"/>
                    </a:solidFill>
                    <a:highlight>
                      <a:srgbClr val="FFFFFF"/>
                    </a:highlight>
                    <a:latin typeface="Consolas"/>
                  </a:rPr>
                  <a:t>int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</a:t>
                </a:r>
                <a:r>
                  <a:rPr lang="en-US" altLang="ko-KR" sz="2000" dirty="0" err="1">
                    <a:solidFill>
                      <a:srgbClr val="808080"/>
                    </a:solidFill>
                    <a:highlight>
                      <a:srgbClr val="FFFFFF"/>
                    </a:highlight>
                    <a:latin typeface="Consolas"/>
                  </a:rPr>
                  <a:t>numt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))</a:t>
                </a:r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를 사용하여 전체 </a:t>
                </a:r>
                <a:r>
                  <a:rPr lang="en-US" altLang="ko-KR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2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mbria Math"/>
                      </a:rPr>
                      <m:t>𝜋</m:t>
                    </m:r>
                  </m:oMath>
                </a14:m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중에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dirty="0" smtClean="0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US" altLang="ko-KR" sz="2400" b="0" i="1" dirty="0" smtClean="0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ko-KR" altLang="en-US" sz="2000" i="1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mbria Math"/>
                      </a:rPr>
                      <m:t>𝜋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mbria Math"/>
                      </a:rPr>
                      <m:t>만</m:t>
                    </m:r>
                  </m:oMath>
                </a14:m>
                <a:r>
                  <a:rPr lang="ko-KR" altLang="en-US" sz="20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/>
                  </a:rPr>
                  <a:t> 그려지도록 조절하여 왼쪽과 오른쪽 팔을 구현</a:t>
                </a:r>
                <a:endParaRPr lang="en-US" altLang="ko-KR" sz="2000" kern="0" dirty="0"/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72" y="1268760"/>
                <a:ext cx="8676456" cy="5512022"/>
              </a:xfrm>
              <a:prstGeom prst="rect">
                <a:avLst/>
              </a:prstGeom>
              <a:blipFill rotWithShape="1">
                <a:blip r:embed="rId2"/>
                <a:stretch>
                  <a:fillRect l="-913" t="-996" b="-8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971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-71462"/>
            <a:ext cx="9144000" cy="9286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346" y="116632"/>
            <a:ext cx="725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Camera</a:t>
            </a:r>
            <a:endParaRPr lang="ko-KR" altLang="en-US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33772" y="1700808"/>
            <a:ext cx="8676456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myKeyboard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altLang="ko-KR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unsigned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char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key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ko-K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x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ko-K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y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 lang="en-US" altLang="ko-KR" sz="2000" kern="0" dirty="0">
              <a:solidFill>
                <a:srgbClr val="FF0000"/>
              </a:solidFill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ko-KR" altLang="en-US" sz="2000" kern="0" dirty="0">
                <a:solidFill>
                  <a:srgbClr val="000000"/>
                </a:solidFill>
              </a:rPr>
              <a:t>    키보드 </a:t>
            </a:r>
            <a:r>
              <a:rPr lang="en-US" altLang="ko-KR" sz="2000" kern="0" dirty="0">
                <a:solidFill>
                  <a:srgbClr val="000000"/>
                </a:solidFill>
              </a:rPr>
              <a:t>‘a’</a:t>
            </a:r>
            <a:r>
              <a:rPr lang="ko-KR" altLang="en-US" sz="2000" kern="0" dirty="0">
                <a:solidFill>
                  <a:srgbClr val="000000"/>
                </a:solidFill>
              </a:rPr>
              <a:t>와 </a:t>
            </a:r>
            <a:r>
              <a:rPr lang="en-US" altLang="ko-KR" sz="2000" kern="0" dirty="0">
                <a:solidFill>
                  <a:srgbClr val="000000"/>
                </a:solidFill>
              </a:rPr>
              <a:t>‘z’</a:t>
            </a:r>
            <a:r>
              <a:rPr lang="ko-KR" altLang="en-US" sz="2000" kern="0" dirty="0">
                <a:solidFill>
                  <a:srgbClr val="000000"/>
                </a:solidFill>
              </a:rPr>
              <a:t>를 누를 때 카메라 </a:t>
            </a:r>
            <a:r>
              <a:rPr lang="en-US" altLang="ko-KR" sz="2000" kern="0" dirty="0">
                <a:solidFill>
                  <a:srgbClr val="000000"/>
                </a:solidFill>
              </a:rPr>
              <a:t>Zoom-in, Zoom-out</a:t>
            </a:r>
            <a:r>
              <a:rPr lang="ko-KR" altLang="en-US" sz="2000" kern="0" dirty="0">
                <a:solidFill>
                  <a:srgbClr val="000000"/>
                </a:solidFill>
              </a:rPr>
              <a:t>을 위한 </a:t>
            </a:r>
            <a:r>
              <a:rPr lang="ko-KR" altLang="en-US" sz="2000" kern="0" dirty="0" err="1">
                <a:solidFill>
                  <a:srgbClr val="000000"/>
                </a:solidFill>
              </a:rPr>
              <a:t>변수값</a:t>
            </a:r>
            <a:r>
              <a:rPr lang="ko-KR" altLang="en-US" sz="2000" kern="0" dirty="0">
                <a:solidFill>
                  <a:srgbClr val="000000"/>
                </a:solidFill>
              </a:rPr>
              <a:t> 조절해줌</a:t>
            </a:r>
            <a:r>
              <a:rPr lang="en-US" altLang="ko-KR" sz="2000" kern="0" dirty="0">
                <a:solidFill>
                  <a:srgbClr val="000000"/>
                </a:solidFill>
              </a:rPr>
              <a:t>.</a:t>
            </a:r>
            <a:r>
              <a:rPr lang="ko-KR" altLang="en-US" sz="2000" kern="0" dirty="0">
                <a:solidFill>
                  <a:srgbClr val="000000"/>
                </a:solidFill>
              </a:rPr>
              <a:t> </a:t>
            </a:r>
            <a:endParaRPr lang="en-US" altLang="ko-KR" sz="2000" kern="0" dirty="0">
              <a:solidFill>
                <a:srgbClr val="000000"/>
              </a:solidFill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endParaRPr lang="en-US" altLang="ko-KR" kern="0" dirty="0"/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myMouse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altLang="ko-K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btn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ko-K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state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ko-K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x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ko-K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y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 lang="en-US" altLang="ko-KR" sz="2400" kern="0" dirty="0">
              <a:solidFill>
                <a:srgbClr val="FF0000"/>
              </a:solidFill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altLang="ko-KR" sz="2000" kern="0" dirty="0"/>
              <a:t>    </a:t>
            </a:r>
            <a:r>
              <a:rPr lang="ko-KR" altLang="en-US" sz="2000" kern="0" dirty="0"/>
              <a:t>마우스를 누를 때와 클릭을 </a:t>
            </a:r>
            <a:r>
              <a:rPr lang="ko-KR" altLang="en-US" sz="2000" kern="0" dirty="0" err="1"/>
              <a:t>뗄때의</a:t>
            </a:r>
            <a:r>
              <a:rPr lang="ko-KR" altLang="en-US" sz="2000" kern="0" dirty="0"/>
              <a:t> 화면좌표를 넘겨줌</a:t>
            </a:r>
            <a:endParaRPr lang="en-US" altLang="ko-KR" sz="2000" kern="0" dirty="0"/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ko-KR" sz="2000" kern="0" dirty="0"/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myMotion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altLang="ko-K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x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ko-K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ko-KR" sz="24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y</a:t>
            </a:r>
            <a:r>
              <a:rPr lang="en-US" altLang="ko-KR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 lang="en-US" altLang="ko-KR" sz="2400" kern="0" dirty="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altLang="ko-KR" sz="2400" kern="0" dirty="0">
                <a:solidFill>
                  <a:srgbClr val="FF0000"/>
                </a:solidFill>
                <a:highlight>
                  <a:srgbClr val="FFFFFF"/>
                </a:highlight>
              </a:rPr>
              <a:t>    </a:t>
            </a:r>
            <a:r>
              <a:rPr lang="ko-KR" altLang="en-US" sz="2000" kern="0" dirty="0"/>
              <a:t>마우스를 드래그할 때 화면좌표를 넘겨줘서 마우스를 통한 카메라 시       </a:t>
            </a:r>
            <a:endParaRPr lang="en-US" altLang="ko-KR" sz="2000" kern="0" dirty="0"/>
          </a:p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altLang="ko-KR" sz="2000" kern="0" dirty="0"/>
              <a:t>     </a:t>
            </a:r>
            <a:r>
              <a:rPr lang="ko-KR" altLang="en-US" sz="2000" kern="0" dirty="0" err="1"/>
              <a:t>점변환</a:t>
            </a:r>
            <a:r>
              <a:rPr lang="ko-KR" altLang="en-US" sz="2000" kern="0" dirty="0"/>
              <a:t> 가능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76953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-71462"/>
            <a:ext cx="9144000" cy="9286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346" y="116632"/>
            <a:ext cx="725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Texture mapping</a:t>
            </a:r>
            <a:endParaRPr lang="ko-KR" altLang="en-US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ko-KR" dirty="0"/>
              <a:t>OpenGL</a:t>
            </a:r>
            <a:r>
              <a:rPr lang="ko-KR" altLang="en-US" dirty="0"/>
              <a:t>에서 제공하고 있는 </a:t>
            </a:r>
            <a:r>
              <a:rPr lang="en-US" altLang="ko-KR" dirty="0"/>
              <a:t>texture</a:t>
            </a:r>
            <a:r>
              <a:rPr lang="ko-KR" altLang="en-US" dirty="0"/>
              <a:t>를 입히는 방법 중 하나인 </a:t>
            </a:r>
            <a:r>
              <a:rPr lang="en-US" altLang="ko-KR" dirty="0"/>
              <a:t>BMP</a:t>
            </a:r>
            <a:r>
              <a:rPr lang="ko-KR" altLang="en-US" dirty="0"/>
              <a:t>파일을 </a:t>
            </a:r>
            <a:r>
              <a:rPr lang="ko-KR" altLang="en-US" dirty="0" err="1"/>
              <a:t>로드하여</a:t>
            </a:r>
            <a:r>
              <a:rPr lang="ko-KR" altLang="en-US" dirty="0"/>
              <a:t> </a:t>
            </a:r>
            <a:r>
              <a:rPr lang="en-US" altLang="ko-KR" dirty="0"/>
              <a:t>texture</a:t>
            </a:r>
            <a:r>
              <a:rPr lang="ko-KR" altLang="en-US" dirty="0"/>
              <a:t>를 입히는 방법을 사용하였다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본 과제에서는 몸통 앞부분</a:t>
            </a:r>
            <a:r>
              <a:rPr lang="en-US" altLang="ko-KR" dirty="0"/>
              <a:t>, </a:t>
            </a:r>
            <a:r>
              <a:rPr lang="ko-KR" altLang="en-US" dirty="0"/>
              <a:t>몸통 뒷부분</a:t>
            </a:r>
            <a:r>
              <a:rPr lang="en-US" altLang="ko-KR" dirty="0"/>
              <a:t>, </a:t>
            </a:r>
            <a:r>
              <a:rPr lang="ko-KR" altLang="en-US" dirty="0"/>
              <a:t>머리 부분에 해당하는 </a:t>
            </a:r>
            <a:r>
              <a:rPr lang="en-US" altLang="ko-KR" dirty="0"/>
              <a:t>3</a:t>
            </a:r>
            <a:r>
              <a:rPr lang="ko-KR" altLang="en-US" dirty="0"/>
              <a:t>개의 </a:t>
            </a:r>
            <a:r>
              <a:rPr lang="en-US" altLang="ko-KR" dirty="0"/>
              <a:t>texture image</a:t>
            </a:r>
            <a:r>
              <a:rPr lang="ko-KR" altLang="en-US" dirty="0"/>
              <a:t>를 사용하여 </a:t>
            </a:r>
            <a:r>
              <a:rPr lang="en-US" altLang="ko-KR" dirty="0"/>
              <a:t>mapping </a:t>
            </a:r>
            <a:r>
              <a:rPr lang="ko-KR" altLang="en-US" dirty="0"/>
              <a:t>하였다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1120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-71462"/>
            <a:ext cx="9144000" cy="9286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346" y="116632"/>
            <a:ext cx="725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Texture mapping</a:t>
            </a:r>
            <a:endParaRPr lang="ko-KR" altLang="en-US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41277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중요 헤더</a:t>
            </a:r>
            <a:endParaRPr lang="en-US" altLang="ko-KR" dirty="0"/>
          </a:p>
          <a:p>
            <a:pPr lvl="1"/>
            <a:r>
              <a:rPr lang="en-US" altLang="ko-KR" sz="2200" dirty="0"/>
              <a:t> </a:t>
            </a:r>
            <a:r>
              <a:rPr lang="en-US" altLang="ko-KR" sz="2200" dirty="0" err="1"/>
              <a:t>stdio.h</a:t>
            </a:r>
            <a:endParaRPr lang="en-US" altLang="ko-KR" sz="2200" dirty="0"/>
          </a:p>
          <a:p>
            <a:pPr lvl="1"/>
            <a:r>
              <a:rPr lang="en-US" altLang="ko-KR" sz="2200" dirty="0"/>
              <a:t> </a:t>
            </a:r>
            <a:r>
              <a:rPr lang="en-US" altLang="ko-KR" sz="2200" dirty="0" err="1"/>
              <a:t>glaux.h</a:t>
            </a:r>
            <a:endParaRPr lang="en-US" altLang="ko-KR" sz="2200" dirty="0"/>
          </a:p>
          <a:p>
            <a:endParaRPr lang="en-US" altLang="ko-KR" sz="1500" dirty="0"/>
          </a:p>
          <a:p>
            <a:r>
              <a:rPr lang="ko-KR" altLang="en-US" dirty="0"/>
              <a:t>중요 변수</a:t>
            </a:r>
            <a:endParaRPr lang="en-US" altLang="ko-KR" dirty="0"/>
          </a:p>
          <a:p>
            <a:pPr lvl="1" latinLnBrk="0"/>
            <a:r>
              <a:rPr lang="en-US" altLang="ko-KR" sz="2200" dirty="0"/>
              <a:t> </a:t>
            </a:r>
            <a:r>
              <a:rPr lang="en-US" altLang="ko-KR" sz="2200" dirty="0" err="1"/>
              <a:t>GLuint</a:t>
            </a:r>
            <a:r>
              <a:rPr lang="en-US" altLang="ko-KR" sz="2200" dirty="0"/>
              <a:t> texture[3];</a:t>
            </a:r>
          </a:p>
          <a:p>
            <a:pPr lvl="2" latinLnBrk="0"/>
            <a:r>
              <a:rPr lang="en-US" altLang="ko-KR" sz="1700" dirty="0"/>
              <a:t>Texture</a:t>
            </a:r>
            <a:r>
              <a:rPr lang="ko-KR" altLang="en-US" sz="1700" dirty="0"/>
              <a:t>를 저장하는 변수이다</a:t>
            </a:r>
            <a:r>
              <a:rPr lang="en-US" altLang="ko-KR" sz="1700" dirty="0"/>
              <a:t>.</a:t>
            </a:r>
          </a:p>
          <a:p>
            <a:pPr lvl="2" latinLnBrk="0"/>
            <a:endParaRPr lang="ko-KR" altLang="ko-KR" sz="1500" dirty="0"/>
          </a:p>
          <a:p>
            <a:pPr lvl="1"/>
            <a:r>
              <a:rPr lang="en-US" altLang="ko-KR" sz="2000" dirty="0"/>
              <a:t> </a:t>
            </a:r>
            <a:r>
              <a:rPr lang="en-US" altLang="ko-KR" sz="2200" dirty="0" err="1"/>
              <a:t>AUX_RGBImageRec</a:t>
            </a:r>
            <a:r>
              <a:rPr lang="en-US" altLang="ko-KR" sz="2200" dirty="0"/>
              <a:t> *</a:t>
            </a:r>
            <a:r>
              <a:rPr lang="en-US" altLang="ko-KR" sz="2200" dirty="0" err="1"/>
              <a:t>TextureImage</a:t>
            </a:r>
            <a:r>
              <a:rPr lang="en-US" altLang="ko-KR" sz="2200" dirty="0"/>
              <a:t>[3];</a:t>
            </a:r>
          </a:p>
          <a:p>
            <a:pPr lvl="2"/>
            <a:r>
              <a:rPr lang="en-US" altLang="ko-KR" sz="1700" dirty="0"/>
              <a:t>Texture image</a:t>
            </a:r>
            <a:r>
              <a:rPr lang="ko-KR" altLang="en-US" sz="1700" dirty="0"/>
              <a:t>인 </a:t>
            </a:r>
            <a:r>
              <a:rPr lang="en-US" altLang="ko-KR" sz="1700" dirty="0"/>
              <a:t>bmp</a:t>
            </a:r>
            <a:r>
              <a:rPr lang="ko-KR" altLang="en-US" sz="1700" dirty="0"/>
              <a:t>파일을 저장하는 변수이다</a:t>
            </a:r>
            <a:r>
              <a:rPr lang="en-US" altLang="ko-KR" sz="1700" dirty="0"/>
              <a:t>.</a:t>
            </a:r>
          </a:p>
          <a:p>
            <a:pPr lvl="2"/>
            <a:r>
              <a:rPr lang="ko-KR" altLang="en-US" sz="1700" dirty="0" err="1"/>
              <a:t>로드한</a:t>
            </a:r>
            <a:r>
              <a:rPr lang="ko-KR" altLang="en-US" sz="1700" dirty="0"/>
              <a:t> </a:t>
            </a:r>
            <a:r>
              <a:rPr lang="en-US" altLang="ko-KR" sz="1700" dirty="0"/>
              <a:t>bmp image </a:t>
            </a:r>
            <a:r>
              <a:rPr lang="ko-KR" altLang="en-US" sz="1700" dirty="0"/>
              <a:t>폭과</a:t>
            </a:r>
            <a:r>
              <a:rPr lang="en-US" altLang="ko-KR" sz="1700" dirty="0"/>
              <a:t> </a:t>
            </a:r>
            <a:r>
              <a:rPr lang="ko-KR" altLang="en-US" sz="1700" dirty="0"/>
              <a:t>높이 등 데이터를 저장한다</a:t>
            </a:r>
          </a:p>
        </p:txBody>
      </p:sp>
    </p:spTree>
    <p:extLst>
      <p:ext uri="{BB962C8B-B14F-4D97-AF65-F5344CB8AC3E}">
        <p14:creationId xmlns:p14="http://schemas.microsoft.com/office/powerpoint/2010/main" val="886437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-71462"/>
            <a:ext cx="9144000" cy="9286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346" y="116632"/>
            <a:ext cx="725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Texture mapping</a:t>
            </a:r>
            <a:endParaRPr lang="ko-KR" altLang="en-US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중요함수</a:t>
            </a:r>
            <a:endParaRPr lang="en-US" altLang="ko-KR" dirty="0"/>
          </a:p>
          <a:p>
            <a:pPr lvl="1"/>
            <a:r>
              <a:rPr lang="ko-KR" altLang="en-US" sz="2200" dirty="0"/>
              <a:t>사용자 정의 함수</a:t>
            </a:r>
            <a:endParaRPr lang="en-US" altLang="ko-KR" sz="2200" dirty="0"/>
          </a:p>
          <a:p>
            <a:pPr lvl="2"/>
            <a:r>
              <a:rPr lang="en-US" altLang="ko-KR" sz="1700" dirty="0" err="1"/>
              <a:t>AUX_RGBImageRec</a:t>
            </a:r>
            <a:r>
              <a:rPr lang="en-US" altLang="ko-KR" sz="1700" dirty="0"/>
              <a:t> *</a:t>
            </a:r>
            <a:r>
              <a:rPr lang="en-US" altLang="ko-KR" sz="1700" dirty="0" err="1"/>
              <a:t>LoadBmpImage</a:t>
            </a:r>
            <a:r>
              <a:rPr lang="en-US" altLang="ko-KR" sz="1700" dirty="0"/>
              <a:t>() : bmp </a:t>
            </a:r>
            <a:r>
              <a:rPr lang="ko-KR" altLang="en-US" sz="1700" dirty="0"/>
              <a:t>이미지를 읽는 함수</a:t>
            </a:r>
            <a:endParaRPr lang="en-US" altLang="ko-KR" sz="1700" dirty="0"/>
          </a:p>
          <a:p>
            <a:pPr lvl="2"/>
            <a:r>
              <a:rPr lang="en-US" altLang="ko-KR" sz="1700" dirty="0" err="1"/>
              <a:t>int</a:t>
            </a:r>
            <a:r>
              <a:rPr lang="en-US" altLang="ko-KR" sz="1700" dirty="0"/>
              <a:t> </a:t>
            </a:r>
            <a:r>
              <a:rPr lang="en-US" altLang="ko-KR" sz="1700" dirty="0" err="1"/>
              <a:t>LoadGLTextures</a:t>
            </a:r>
            <a:r>
              <a:rPr lang="en-US" altLang="ko-KR" sz="1700" dirty="0"/>
              <a:t>() :  bmp</a:t>
            </a:r>
            <a:r>
              <a:rPr lang="ko-KR" altLang="en-US" sz="1700" dirty="0"/>
              <a:t>를 읽고 </a:t>
            </a:r>
            <a:r>
              <a:rPr lang="en-US" altLang="ko-KR" sz="1700" dirty="0"/>
              <a:t>texture</a:t>
            </a:r>
            <a:r>
              <a:rPr lang="ko-KR" altLang="en-US" sz="1700" dirty="0"/>
              <a:t>를  생성하는 함수</a:t>
            </a:r>
            <a:endParaRPr lang="en-US" altLang="ko-KR" sz="1700" dirty="0"/>
          </a:p>
          <a:p>
            <a:pPr lvl="1"/>
            <a:endParaRPr lang="en-US" altLang="ko-KR" sz="2000" dirty="0"/>
          </a:p>
          <a:p>
            <a:pPr lvl="1"/>
            <a:r>
              <a:rPr lang="en-US" altLang="ko-KR" sz="2200" dirty="0" err="1"/>
              <a:t>Opengl</a:t>
            </a:r>
            <a:r>
              <a:rPr lang="en-US" altLang="ko-KR" sz="2200" dirty="0"/>
              <a:t> </a:t>
            </a:r>
            <a:r>
              <a:rPr lang="ko-KR" altLang="en-US" sz="2200" dirty="0"/>
              <a:t>제공 함수</a:t>
            </a:r>
            <a:endParaRPr lang="en-US" altLang="ko-KR" sz="2200" dirty="0"/>
          </a:p>
          <a:p>
            <a:pPr lvl="2"/>
            <a:r>
              <a:rPr lang="en-US" altLang="ko-KR" sz="1700" dirty="0" err="1"/>
              <a:t>auxDIBImageLoad</a:t>
            </a:r>
            <a:r>
              <a:rPr lang="en-US" altLang="ko-KR" sz="1700" dirty="0"/>
              <a:t>() : bmp </a:t>
            </a:r>
            <a:r>
              <a:rPr lang="ko-KR" altLang="en-US" sz="1700" dirty="0"/>
              <a:t>읽고 해당 파일 포인터 반환</a:t>
            </a:r>
            <a:endParaRPr lang="en-US" altLang="ko-KR" sz="1700" dirty="0"/>
          </a:p>
          <a:p>
            <a:pPr lvl="2"/>
            <a:r>
              <a:rPr lang="en-US" altLang="ko-KR" sz="1800" dirty="0" err="1"/>
              <a:t>glBindTexture</a:t>
            </a:r>
            <a:r>
              <a:rPr lang="en-US" altLang="ko-KR" sz="1800" dirty="0"/>
              <a:t>() : </a:t>
            </a:r>
            <a:r>
              <a:rPr lang="ko-KR" altLang="en-US" sz="1800" dirty="0"/>
              <a:t>해당 </a:t>
            </a:r>
            <a:r>
              <a:rPr lang="en-US" altLang="ko-KR" sz="1800" dirty="0"/>
              <a:t>texture</a:t>
            </a:r>
            <a:r>
              <a:rPr lang="ko-KR" altLang="en-US" sz="1800" dirty="0"/>
              <a:t>를</a:t>
            </a:r>
            <a:r>
              <a:rPr lang="en-US" altLang="ko-KR" sz="1800" dirty="0"/>
              <a:t> bind</a:t>
            </a:r>
          </a:p>
          <a:p>
            <a:pPr lvl="2"/>
            <a:r>
              <a:rPr lang="en-US" altLang="ko-KR" sz="1800" dirty="0"/>
              <a:t>glTexImage2D() :  bind</a:t>
            </a:r>
            <a:r>
              <a:rPr lang="ko-KR" altLang="en-US" sz="1800" dirty="0"/>
              <a:t>한 </a:t>
            </a:r>
            <a:r>
              <a:rPr lang="en-US" altLang="ko-KR" sz="1800" dirty="0"/>
              <a:t>texture</a:t>
            </a:r>
            <a:r>
              <a:rPr lang="ko-KR" altLang="en-US" sz="1800" dirty="0"/>
              <a:t>에  값들을 설정</a:t>
            </a:r>
            <a:r>
              <a:rPr lang="en-US" altLang="ko-KR" sz="1800" dirty="0"/>
              <a:t>(</a:t>
            </a:r>
            <a:r>
              <a:rPr lang="ko-KR" altLang="en-US" sz="1800" dirty="0"/>
              <a:t>과제에선 기본 값</a:t>
            </a:r>
            <a:r>
              <a:rPr lang="en-US" altLang="ko-KR" sz="1800" dirty="0"/>
              <a:t>)</a:t>
            </a:r>
          </a:p>
          <a:p>
            <a:pPr lvl="2"/>
            <a:r>
              <a:rPr lang="en-US" altLang="ko-KR" sz="1800" dirty="0" err="1"/>
              <a:t>glTexParameteri</a:t>
            </a:r>
            <a:r>
              <a:rPr lang="en-US" altLang="ko-KR" sz="1800" dirty="0"/>
              <a:t>() : </a:t>
            </a:r>
            <a:r>
              <a:rPr lang="ko-KR" altLang="en-US" sz="1800" dirty="0"/>
              <a:t>입힌 </a:t>
            </a:r>
            <a:r>
              <a:rPr lang="en-US" altLang="ko-KR" sz="1800" dirty="0"/>
              <a:t>texture</a:t>
            </a:r>
            <a:r>
              <a:rPr lang="ko-KR" altLang="en-US" sz="1800" dirty="0"/>
              <a:t>가 원래 이미지보다 크거나 작을 때 </a:t>
            </a:r>
            <a:r>
              <a:rPr lang="en-US" altLang="ko-KR" sz="1800" dirty="0"/>
              <a:t>		   </a:t>
            </a:r>
            <a:r>
              <a:rPr lang="ko-KR" altLang="en-US" sz="1800" dirty="0"/>
              <a:t>어떻게 할 것인지  판단 </a:t>
            </a:r>
            <a:r>
              <a:rPr lang="en-US" altLang="ko-KR" sz="1800" dirty="0"/>
              <a:t>(</a:t>
            </a:r>
            <a:r>
              <a:rPr lang="ko-KR" altLang="en-US" sz="1800" dirty="0"/>
              <a:t>과제에서는 </a:t>
            </a:r>
            <a:r>
              <a:rPr lang="ko-KR" altLang="en-US" sz="1800" dirty="0" err="1"/>
              <a:t>선형필터링</a:t>
            </a:r>
            <a:r>
              <a:rPr lang="en-US" altLang="ko-KR" sz="1800" dirty="0"/>
              <a:t>)</a:t>
            </a:r>
            <a:endParaRPr lang="en-US" altLang="ko-KR" sz="1700" dirty="0"/>
          </a:p>
          <a:p>
            <a:pPr lvl="2"/>
            <a:r>
              <a:rPr lang="en-US" altLang="ko-KR" sz="1800" dirty="0" err="1"/>
              <a:t>glEnable</a:t>
            </a:r>
            <a:r>
              <a:rPr lang="en-US" altLang="ko-KR" sz="1800" dirty="0"/>
              <a:t>() :  texture </a:t>
            </a:r>
            <a:r>
              <a:rPr lang="ko-KR" altLang="en-US" sz="1800" dirty="0"/>
              <a:t>적용</a:t>
            </a:r>
            <a:endParaRPr lang="en-US" altLang="ko-KR" sz="1800" dirty="0"/>
          </a:p>
          <a:p>
            <a:pPr lvl="2"/>
            <a:r>
              <a:rPr lang="en-US" altLang="ko-KR" sz="1800" dirty="0" err="1"/>
              <a:t>glDisable</a:t>
            </a:r>
            <a:r>
              <a:rPr lang="en-US" altLang="ko-KR" sz="1800" dirty="0"/>
              <a:t>() :  texture </a:t>
            </a:r>
            <a:r>
              <a:rPr lang="ko-KR" altLang="en-US" sz="1800" dirty="0"/>
              <a:t>해제</a:t>
            </a:r>
            <a:r>
              <a:rPr lang="en-US" altLang="ko-KR" sz="1800" dirty="0"/>
              <a:t> </a:t>
            </a:r>
            <a:endParaRPr lang="ko-KR" altLang="ko-KR" sz="1700" dirty="0"/>
          </a:p>
          <a:p>
            <a:pPr lvl="1"/>
            <a:endParaRPr lang="ko-KR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145101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-71462"/>
            <a:ext cx="9144000" cy="9286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346" y="116632"/>
            <a:ext cx="725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Texture mapping</a:t>
            </a:r>
            <a:endParaRPr lang="ko-KR" altLang="en-US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95536" y="1484784"/>
            <a:ext cx="8229600" cy="4525963"/>
          </a:xfrm>
        </p:spPr>
        <p:txBody>
          <a:bodyPr/>
          <a:lstStyle/>
          <a:p>
            <a:r>
              <a:rPr lang="en-US" altLang="ko-KR" dirty="0"/>
              <a:t>Texture </a:t>
            </a:r>
            <a:r>
              <a:rPr lang="ko-KR" altLang="en-US" dirty="0"/>
              <a:t>적용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z="2400" dirty="0" err="1"/>
              <a:t>LoadGLTextures</a:t>
            </a:r>
            <a:r>
              <a:rPr lang="en-US" altLang="ko-KR" sz="2400" dirty="0"/>
              <a:t>()</a:t>
            </a:r>
            <a:r>
              <a:rPr lang="ko-KR" altLang="en-US" sz="2400" dirty="0"/>
              <a:t>를 </a:t>
            </a:r>
            <a:r>
              <a:rPr lang="en-US" altLang="ko-KR" sz="2400" dirty="0"/>
              <a:t>main</a:t>
            </a:r>
            <a:r>
              <a:rPr lang="ko-KR" altLang="en-US" sz="2400" dirty="0"/>
              <a:t>에서 실행하여 </a:t>
            </a:r>
            <a:r>
              <a:rPr lang="en-US" altLang="ko-KR" sz="2400" dirty="0"/>
              <a:t>bmp</a:t>
            </a:r>
            <a:r>
              <a:rPr lang="ko-KR" altLang="en-US" sz="2400" dirty="0"/>
              <a:t> </a:t>
            </a:r>
            <a:r>
              <a:rPr lang="en-US" altLang="ko-KR" sz="2400" dirty="0"/>
              <a:t>image</a:t>
            </a:r>
            <a:r>
              <a:rPr lang="ko-KR" altLang="en-US" sz="2400" dirty="0"/>
              <a:t>를 </a:t>
            </a:r>
            <a:r>
              <a:rPr lang="en-US" altLang="ko-KR" sz="2400" dirty="0"/>
              <a:t>texture</a:t>
            </a:r>
            <a:r>
              <a:rPr lang="ko-KR" altLang="en-US" sz="2400" dirty="0"/>
              <a:t>로 만든다</a:t>
            </a:r>
            <a:r>
              <a:rPr lang="en-US" altLang="ko-KR" sz="2400" dirty="0"/>
              <a:t>.</a:t>
            </a:r>
            <a:endParaRPr lang="en-US" altLang="ko-KR" sz="2200" dirty="0"/>
          </a:p>
          <a:p>
            <a:pPr marL="914400" lvl="1" indent="-457200">
              <a:buFont typeface="+mj-lt"/>
              <a:buAutoNum type="arabicPeriod"/>
            </a:pPr>
            <a:endParaRPr lang="en-US" altLang="ko-KR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z="2400" dirty="0"/>
              <a:t>Draw </a:t>
            </a:r>
            <a:r>
              <a:rPr lang="ko-KR" altLang="en-US" sz="2400" dirty="0"/>
              <a:t>함수인 </a:t>
            </a:r>
            <a:r>
              <a:rPr lang="en-US" altLang="ko-KR" sz="2400" dirty="0" err="1"/>
              <a:t>myDisplay</a:t>
            </a:r>
            <a:r>
              <a:rPr lang="en-US" altLang="ko-KR" sz="2400" dirty="0"/>
              <a:t>() </a:t>
            </a:r>
            <a:r>
              <a:rPr lang="ko-KR" altLang="en-US" sz="2400" dirty="0"/>
              <a:t>함수에서 해당 </a:t>
            </a:r>
            <a:r>
              <a:rPr lang="en-US" altLang="ko-KR" sz="2400" dirty="0"/>
              <a:t>texture</a:t>
            </a:r>
            <a:r>
              <a:rPr lang="ko-KR" altLang="en-US" sz="2400" dirty="0"/>
              <a:t>를 입히고 싶은 부분을 찾아서 </a:t>
            </a:r>
            <a:r>
              <a:rPr lang="en-US" altLang="ko-KR" sz="2400" dirty="0"/>
              <a:t>texture</a:t>
            </a:r>
            <a:r>
              <a:rPr lang="ko-KR" altLang="en-US" sz="2400" dirty="0"/>
              <a:t>를 입혀준다</a:t>
            </a:r>
            <a:r>
              <a:rPr lang="en-US" altLang="ko-KR" sz="24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ko-KR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z="2400" dirty="0"/>
              <a:t>Texture</a:t>
            </a:r>
            <a:r>
              <a:rPr lang="ko-KR" altLang="en-US" sz="2400" dirty="0"/>
              <a:t>를 입혀주기 위하여</a:t>
            </a:r>
            <a:r>
              <a:rPr lang="en-US" altLang="ko-KR" sz="2400" dirty="0"/>
              <a:t> </a:t>
            </a:r>
            <a:r>
              <a:rPr lang="ko-KR" altLang="en-US" sz="2400" dirty="0"/>
              <a:t>몸통 부분은 수동으로 좌표를 각각 </a:t>
            </a:r>
            <a:r>
              <a:rPr lang="en-US" altLang="ko-KR" sz="2400" dirty="0"/>
              <a:t>mapping</a:t>
            </a:r>
            <a:r>
              <a:rPr lang="ko-KR" altLang="en-US" sz="2400" dirty="0"/>
              <a:t>하였고</a:t>
            </a:r>
            <a:r>
              <a:rPr lang="en-US" altLang="ko-KR" sz="2400" dirty="0"/>
              <a:t>, </a:t>
            </a:r>
            <a:r>
              <a:rPr lang="ko-KR" altLang="en-US" sz="2400" dirty="0"/>
              <a:t>머리 부분은 자동 </a:t>
            </a:r>
            <a:r>
              <a:rPr lang="en-US" altLang="ko-KR" sz="2400" dirty="0"/>
              <a:t>mapping</a:t>
            </a:r>
            <a:r>
              <a:rPr lang="ko-KR" altLang="en-US" sz="2400" dirty="0"/>
              <a:t>하였다</a:t>
            </a:r>
            <a:r>
              <a:rPr lang="en-US" altLang="ko-KR" sz="2400" dirty="0"/>
              <a:t>.</a:t>
            </a:r>
          </a:p>
          <a:p>
            <a:pPr marL="457200" lvl="1" indent="0">
              <a:buNone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759184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4"/>
            <a:ext cx="9144000" cy="342902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427984" y="0"/>
            <a:ext cx="4716016" cy="34290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564904"/>
            <a:ext cx="66602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3. Demo</a:t>
            </a:r>
            <a:endParaRPr lang="ko-KR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https://www.sofort.com/var/sofort/storage/images/media/graphics/illus/demo-video/238516-3-eng-DE/Demo-Video_col-1-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742" y="3414191"/>
            <a:ext cx="428625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886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-32" y="-71462"/>
            <a:ext cx="9144000" cy="9286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346" y="116632"/>
            <a:ext cx="9017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-36512" y="857232"/>
            <a:ext cx="9180512" cy="6000768"/>
            <a:chOff x="6946" y="857232"/>
            <a:chExt cx="9137022" cy="6000768"/>
          </a:xfrm>
        </p:grpSpPr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6" y="857232"/>
              <a:ext cx="9137022" cy="6000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2335" y="1039069"/>
              <a:ext cx="2905125" cy="3790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263" y="1172419"/>
              <a:ext cx="2343150" cy="365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0517" y="1135163"/>
              <a:ext cx="2457450" cy="3600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7370" y="4657724"/>
              <a:ext cx="2733675" cy="2200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4897" y="4581525"/>
              <a:ext cx="3019425" cy="2276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19872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-32" y="-71462"/>
            <a:ext cx="9144000" cy="9286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346" y="116632"/>
            <a:ext cx="9017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 - </a:t>
            </a:r>
            <a:r>
              <a:rPr lang="ko-KR" altLang="en-US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동영상</a:t>
            </a:r>
            <a:endParaRPr lang="en-US" altLang="ko-KR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동영상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03648" y="857231"/>
            <a:ext cx="6264696" cy="600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8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818" y="3407254"/>
            <a:ext cx="1104800" cy="23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4"/>
            <a:ext cx="9144000" cy="342902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427984" y="0"/>
            <a:ext cx="4716016" cy="34290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564904"/>
            <a:ext cx="66602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4. Epilogue</a:t>
            </a:r>
            <a:endParaRPr lang="ko-KR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147" y="3861048"/>
            <a:ext cx="5423706" cy="2458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0" y="-24"/>
            <a:ext cx="9144000" cy="7143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  <a:p>
            <a:pPr algn="r"/>
            <a:endParaRPr lang="en-US" altLang="ko-KR" sz="2400" b="1" dirty="0">
              <a:solidFill>
                <a:schemeClr val="accent2">
                  <a:lumMod val="40000"/>
                  <a:lumOff val="60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0" y="714356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6346" y="71414"/>
            <a:ext cx="6660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Epilogue</a:t>
            </a:r>
            <a:endParaRPr lang="ko-KR" altLang="en-US" sz="36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6056871" y="1984251"/>
            <a:ext cx="3384376" cy="3528392"/>
            <a:chOff x="6786578" y="738333"/>
            <a:chExt cx="2712350" cy="2814703"/>
          </a:xfrm>
        </p:grpSpPr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5455" b="94545" l="9704" r="89488">
                          <a14:foregroundMark x1="48518" y1="91948" x2="50135" y2="9454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6578" y="738333"/>
              <a:ext cx="2712350" cy="2814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2360" y="3212976"/>
              <a:ext cx="67627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TextBox 8"/>
          <p:cNvSpPr txBox="1"/>
          <p:nvPr/>
        </p:nvSpPr>
        <p:spPr>
          <a:xfrm>
            <a:off x="0" y="1844824"/>
            <a:ext cx="608416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ko-KR" altLang="en-US" sz="2800" dirty="0"/>
              <a:t>최근호 </a:t>
            </a:r>
            <a:r>
              <a:rPr lang="en-US" altLang="ko-KR" sz="2800" dirty="0"/>
              <a:t>: Torus</a:t>
            </a:r>
            <a:r>
              <a:rPr lang="ko-KR" altLang="en-US" sz="2800" dirty="0"/>
              <a:t>을 응용해 팔을 만들었는데 좀더 관절이나 근육을 세밀하게 묘사하지는 못한 부분에 대해 아쉬움이 남았다</a:t>
            </a:r>
            <a:r>
              <a:rPr lang="en-US" altLang="ko-KR" sz="2800" dirty="0"/>
              <a:t>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ko-KR" altLang="en-US" sz="2800" dirty="0"/>
              <a:t>전상훈 </a:t>
            </a:r>
            <a:r>
              <a:rPr lang="en-US" altLang="ko-KR" sz="2800" dirty="0"/>
              <a:t>:</a:t>
            </a:r>
            <a:r>
              <a:rPr lang="ko-KR" altLang="en-US" sz="2800" dirty="0"/>
              <a:t> </a:t>
            </a:r>
            <a:r>
              <a:rPr lang="en-US" altLang="ko-KR" sz="2800" dirty="0"/>
              <a:t>texture </a:t>
            </a:r>
            <a:r>
              <a:rPr lang="ko-KR" altLang="en-US" sz="2800" dirty="0"/>
              <a:t>사용에 대한 이해도가 부족하여 적용에 한계가 있던 점이 조금 아쉬웠다</a:t>
            </a:r>
            <a:r>
              <a:rPr lang="en-US" altLang="ko-KR" sz="2800" dirty="0"/>
              <a:t>. 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04437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i.ytimg.com/vi/f1xtpvJrF5g/maxresdefau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052736"/>
            <a:ext cx="8965053" cy="5042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2844</TotalTime>
  <Words>559</Words>
  <Application>Microsoft Office PowerPoint</Application>
  <PresentationFormat>화면 슬라이드 쇼(4:3)</PresentationFormat>
  <Paragraphs>141</Paragraphs>
  <Slides>18</Slides>
  <Notes>3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Adobe 고딕 Std B</vt:lpstr>
      <vt:lpstr>맑은 고딕</vt:lpstr>
      <vt:lpstr>Arial</vt:lpstr>
      <vt:lpstr>Cambria Math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빌게이츠</dc:creator>
  <cp:lastModifiedBy>정진 이</cp:lastModifiedBy>
  <cp:revision>349</cp:revision>
  <dcterms:created xsi:type="dcterms:W3CDTF">2013-10-17T09:29:40Z</dcterms:created>
  <dcterms:modified xsi:type="dcterms:W3CDTF">2025-03-03T04:49:48Z</dcterms:modified>
</cp:coreProperties>
</file>